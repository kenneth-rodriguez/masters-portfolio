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4"/>
  </p:sldMasterIdLst>
  <p:notesMasterIdLst>
    <p:notesMasterId r:id="rId30"/>
  </p:notesMasterIdLst>
  <p:handoutMasterIdLst>
    <p:handoutMasterId r:id="rId31"/>
  </p:handoutMasterIdLst>
  <p:sldIdLst>
    <p:sldId id="289" r:id="rId5"/>
    <p:sldId id="261" r:id="rId6"/>
    <p:sldId id="263" r:id="rId7"/>
    <p:sldId id="266" r:id="rId8"/>
    <p:sldId id="264" r:id="rId9"/>
    <p:sldId id="265" r:id="rId10"/>
    <p:sldId id="290" r:id="rId11"/>
    <p:sldId id="292" r:id="rId12"/>
    <p:sldId id="293" r:id="rId13"/>
    <p:sldId id="294" r:id="rId14"/>
    <p:sldId id="295" r:id="rId15"/>
    <p:sldId id="296" r:id="rId16"/>
    <p:sldId id="297" r:id="rId17"/>
    <p:sldId id="298" r:id="rId18"/>
    <p:sldId id="299" r:id="rId19"/>
    <p:sldId id="291" r:id="rId20"/>
    <p:sldId id="300" r:id="rId21"/>
    <p:sldId id="301" r:id="rId22"/>
    <p:sldId id="302" r:id="rId23"/>
    <p:sldId id="303" r:id="rId24"/>
    <p:sldId id="304" r:id="rId25"/>
    <p:sldId id="305" r:id="rId26"/>
    <p:sldId id="306" r:id="rId27"/>
    <p:sldId id="307" r:id="rId28"/>
    <p:sldId id="26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58" autoAdjust="0"/>
    <p:restoredTop sz="56413" autoAdjust="0"/>
  </p:normalViewPr>
  <p:slideViewPr>
    <p:cSldViewPr snapToGrid="0">
      <p:cViewPr varScale="1">
        <p:scale>
          <a:sx n="57" d="100"/>
          <a:sy n="57" d="100"/>
        </p:scale>
        <p:origin x="78" y="21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4/5/2026</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B16356-3B28-4AAF-8099-7941810E2475}" type="datetimeFigureOut">
              <a:rPr lang="en-US" smtClean="0"/>
              <a:t>4/5/2026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5DA344-5FA2-43F7-9D95-CA56C82B080A}" type="slidenum">
              <a:rPr lang="en-US" smtClean="0"/>
              <a:t>‹#›</a:t>
            </a:fld>
            <a:endParaRPr lang="en-US"/>
          </a:p>
        </p:txBody>
      </p:sp>
    </p:spTree>
    <p:extLst>
      <p:ext uri="{BB962C8B-B14F-4D97-AF65-F5344CB8AC3E}">
        <p14:creationId xmlns:p14="http://schemas.microsoft.com/office/powerpoint/2010/main" val="1255762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a:t>
            </a:fld>
            <a:endParaRPr lang="en-US"/>
          </a:p>
        </p:txBody>
      </p:sp>
    </p:spTree>
    <p:extLst>
      <p:ext uri="{BB962C8B-B14F-4D97-AF65-F5344CB8AC3E}">
        <p14:creationId xmlns:p14="http://schemas.microsoft.com/office/powerpoint/2010/main" val="695444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lvl="0"/>
            <a:r>
              <a:rPr lang="en-US" sz="1200" kern="1200" dirty="0" err="1">
                <a:solidFill>
                  <a:schemeClr val="tx1"/>
                </a:solidFill>
                <a:effectLst/>
                <a:latin typeface="+mn-lt"/>
                <a:ea typeface="+mn-ea"/>
                <a:cs typeface="+mn-cs"/>
              </a:rPr>
              <a:t>Everstone</a:t>
            </a:r>
            <a:r>
              <a:rPr lang="en-US" sz="1200" kern="1200" dirty="0">
                <a:solidFill>
                  <a:schemeClr val="tx1"/>
                </a:solidFill>
                <a:effectLst/>
                <a:latin typeface="+mn-lt"/>
                <a:ea typeface="+mn-ea"/>
                <a:cs typeface="+mn-cs"/>
              </a:rPr>
              <a:t> County is currently utilizing a database management system that has been inadequate for their property tax assessment, parcel, and payment information.</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Proprietary Database Utilization for Property Tax Assessment, Parcel, and Payment Information.</a:t>
            </a:r>
          </a:p>
          <a:p>
            <a:pPr lvl="0"/>
            <a:r>
              <a:rPr lang="en-US" sz="1200" kern="1200" dirty="0">
                <a:solidFill>
                  <a:schemeClr val="tx1"/>
                </a:solidFill>
                <a:effectLst/>
                <a:latin typeface="+mn-lt"/>
                <a:ea typeface="+mn-ea"/>
                <a:cs typeface="+mn-cs"/>
              </a:rPr>
              <a:t>	The County has been promoting their online self-service payment and lookup information to reduce the number of paper receipts and in-office appointments.</a:t>
            </a:r>
          </a:p>
          <a:p>
            <a:pPr lvl="1"/>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This system has been implemented to reduce the number of paper receipts and in-office appointments.</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Database bottlenecks have been identified including redundant data, unoptimized queries, and poorly implemented triggers.</a:t>
            </a:r>
          </a:p>
          <a:p>
            <a:pPr lvl="0"/>
            <a:r>
              <a:rPr lang="en-US" sz="1200" kern="1200" dirty="0">
                <a:solidFill>
                  <a:schemeClr val="tx1"/>
                </a:solidFill>
                <a:effectLst/>
                <a:latin typeface="+mn-lt"/>
                <a:ea typeface="+mn-ea"/>
                <a:cs typeface="+mn-cs"/>
              </a:rPr>
              <a:t>	Despite the push to a digital format and sufficient hardware to support these endeavors, the current database schema appears to be the last bottleneck, containing a large amount of duplicated data, unoptimized queries, and triggers. These bottlenecks have compounded into substantial performance issues, compromising the overall quality of data within the database.</a:t>
            </a:r>
          </a:p>
          <a:p>
            <a:pPr lvl="0"/>
            <a:r>
              <a:rPr lang="en-US" sz="1200" kern="1200" dirty="0">
                <a:solidFill>
                  <a:schemeClr val="tx1"/>
                </a:solidFill>
                <a:effectLst/>
                <a:latin typeface="+mn-lt"/>
                <a:ea typeface="+mn-ea"/>
                <a:cs typeface="+mn-cs"/>
              </a:rPr>
              <a:t>	The objective of this presentation is to identify solutions to these problems and improve the database’s usability for its users, in turn providing a more consistent experience for customers and reducing </a:t>
            </a:r>
            <a:r>
              <a:rPr lang="en-US" sz="1200" kern="1200" dirty="0" err="1">
                <a:solidFill>
                  <a:schemeClr val="tx1"/>
                </a:solidFill>
                <a:effectLst/>
                <a:latin typeface="+mn-lt"/>
                <a:ea typeface="+mn-ea"/>
                <a:cs typeface="+mn-cs"/>
              </a:rPr>
              <a:t>Everstone</a:t>
            </a:r>
            <a:r>
              <a:rPr lang="en-US" sz="1200" kern="1200" dirty="0">
                <a:solidFill>
                  <a:schemeClr val="tx1"/>
                </a:solidFill>
                <a:effectLst/>
                <a:latin typeface="+mn-lt"/>
                <a:ea typeface="+mn-ea"/>
                <a:cs typeface="+mn-cs"/>
              </a:rPr>
              <a:t> County’s resource use when processing paper forms and scheduling in-person interviews.</a:t>
            </a:r>
          </a:p>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2</a:t>
            </a:fld>
            <a:endParaRPr lang="en-US"/>
          </a:p>
        </p:txBody>
      </p:sp>
    </p:spTree>
    <p:extLst>
      <p:ext uri="{BB962C8B-B14F-4D97-AF65-F5344CB8AC3E}">
        <p14:creationId xmlns:p14="http://schemas.microsoft.com/office/powerpoint/2010/main" val="39884402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Improve Table Structure to Reduce Data Redundancy (Wang &amp; Chan, 2004)</a:t>
            </a:r>
          </a:p>
          <a:p>
            <a:pPr lvl="0"/>
            <a:r>
              <a:rPr lang="en-US" sz="1200" kern="1200" dirty="0">
                <a:solidFill>
                  <a:schemeClr val="tx1"/>
                </a:solidFill>
                <a:effectLst/>
                <a:latin typeface="+mn-lt"/>
                <a:ea typeface="+mn-ea"/>
                <a:cs typeface="+mn-cs"/>
              </a:rPr>
              <a:t>	The repetition of data within the database context suggests the schema is not normalized in its current state. Normalizing the database wherever possible may greatly reduce data redundancy and potential data anomalies from data only partially updating in the database (Wang &amp; Chan, 2004).</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Optimize Queries (Microsoft Learn, 2025)</a:t>
            </a:r>
          </a:p>
          <a:p>
            <a:pPr lvl="0"/>
            <a:r>
              <a:rPr lang="en-US" sz="1200" kern="1200" dirty="0">
                <a:solidFill>
                  <a:schemeClr val="tx1"/>
                </a:solidFill>
                <a:effectLst/>
                <a:latin typeface="+mn-lt"/>
                <a:ea typeface="+mn-ea"/>
                <a:cs typeface="+mn-cs"/>
              </a:rPr>
              <a:t>	Database normalization lends itself to query optimization inherently by structuring data. In addition to normalization, optimizing queries themselves by reducing table JOINs, implementing proper indices, and simplifying looping statements may contribute to improved performance (Microsoft Learn, 2025).</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Simplify Triggers (Pollack, 2021)</a:t>
            </a:r>
          </a:p>
          <a:p>
            <a:pPr lvl="0"/>
            <a:r>
              <a:rPr lang="en-US" sz="1200" kern="1200" dirty="0">
                <a:solidFill>
                  <a:schemeClr val="tx1"/>
                </a:solidFill>
                <a:effectLst/>
                <a:latin typeface="+mn-lt"/>
                <a:ea typeface="+mn-ea"/>
                <a:cs typeface="+mn-cs"/>
              </a:rPr>
              <a:t>	If a database contains several triggers, those triggers may begin to degrade database performance substantially. Triggers may execute additional triggers, they may execute recursively, or there may be more triggers than necessary, all of which may cost a significant amount of database resources (Pollack, 2021). Reducing the number of triggers currently in use should contribute to improved database performance.</a:t>
            </a:r>
          </a:p>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3</a:t>
            </a:fld>
            <a:endParaRPr lang="en-US"/>
          </a:p>
        </p:txBody>
      </p:sp>
    </p:spTree>
    <p:extLst>
      <p:ext uri="{BB962C8B-B14F-4D97-AF65-F5344CB8AC3E}">
        <p14:creationId xmlns:p14="http://schemas.microsoft.com/office/powerpoint/2010/main" val="2065083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Improving Joins (IBM, 2025, 2026)</a:t>
            </a:r>
          </a:p>
          <a:p>
            <a:pPr lvl="0"/>
            <a:r>
              <a:rPr lang="en-US" sz="1200" kern="1200" dirty="0">
                <a:solidFill>
                  <a:schemeClr val="tx1"/>
                </a:solidFill>
                <a:effectLst/>
                <a:latin typeface="+mn-lt"/>
                <a:ea typeface="+mn-ea"/>
                <a:cs typeface="+mn-cs"/>
              </a:rPr>
              <a:t>	During query execution, JOIN statements may prove to be costly in some circumstances; if tables are uneven or if indices need to be created, database performance may suffer in turn (IBM, 2025). To mitigate or reduce these performance hits, indexing relevant data can improve query times by providing the query planner with more options to efficiently combine data as opposed to an otherwise brute force approach (IBM, 2026). </a:t>
            </a:r>
          </a:p>
          <a:p>
            <a:pPr lvl="1"/>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Sub-Queries for Efficient Join Alternatives (MySQL, 2026; IBM, 2026)</a:t>
            </a:r>
          </a:p>
          <a:p>
            <a:pPr lvl="0"/>
            <a:r>
              <a:rPr lang="en-US" sz="1200" kern="1200" dirty="0">
                <a:solidFill>
                  <a:schemeClr val="tx1"/>
                </a:solidFill>
                <a:effectLst/>
                <a:latin typeface="+mn-lt"/>
                <a:ea typeface="+mn-ea"/>
                <a:cs typeface="+mn-cs"/>
              </a:rPr>
              <a:t>	Sub-queries are a method of executing a statement within a statement for the purpose of providing additional structure to queries (allowing isolation of specific portions of the query), returning fewer and more specific results while providing alternatives to potentially complex joins (MySQL, 2026). As such, the simplicity of sub-querying may serve a valuable alternative to joins with the caveat that similar rules apply; indexed sub-queries will perform more efficiently and sub-queries must be ordered in terms of most to least efficient (IBM, 2026).</a:t>
            </a:r>
          </a:p>
          <a:p>
            <a:pPr lvl="1"/>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Prioritizing Sorting Indexed Attributes (MySQL Documentation Team, 2026)</a:t>
            </a:r>
          </a:p>
          <a:p>
            <a:pPr lvl="0"/>
            <a:r>
              <a:rPr lang="en-US" sz="1200" kern="1200" dirty="0">
                <a:solidFill>
                  <a:schemeClr val="tx1"/>
                </a:solidFill>
                <a:effectLst/>
                <a:latin typeface="+mn-lt"/>
                <a:ea typeface="+mn-ea"/>
                <a:cs typeface="+mn-cs"/>
              </a:rPr>
              <a:t>	Like joins and sub-queries, ordering a query’s results benefits greatly from indexed and limited results, ordered from most to least efficient (MySQL Documentation Team, 2026).</a:t>
            </a:r>
          </a:p>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4</a:t>
            </a:fld>
            <a:endParaRPr lang="en-US"/>
          </a:p>
        </p:txBody>
      </p:sp>
    </p:spTree>
    <p:extLst>
      <p:ext uri="{BB962C8B-B14F-4D97-AF65-F5344CB8AC3E}">
        <p14:creationId xmlns:p14="http://schemas.microsoft.com/office/powerpoint/2010/main" val="27299733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Normalization (Wang &amp; Chan, 2004)</a:t>
            </a:r>
          </a:p>
          <a:p>
            <a:pPr lvl="0"/>
            <a:r>
              <a:rPr lang="en-US" sz="1200" kern="1200" dirty="0">
                <a:solidFill>
                  <a:schemeClr val="tx1"/>
                </a:solidFill>
                <a:effectLst/>
                <a:latin typeface="+mn-lt"/>
                <a:ea typeface="+mn-ea"/>
                <a:cs typeface="+mn-cs"/>
              </a:rPr>
              <a:t>	Normalization is the process of organizing data within a database with the intention of creating strong relationships between data and the tables stored within that database while also reducing redundancy when permissible (Wang &amp; Chan, 2004). Normalization exists in several </a:t>
            </a:r>
            <a:r>
              <a:rPr lang="en-US" sz="1200" i="1" kern="1200" dirty="0">
                <a:solidFill>
                  <a:schemeClr val="tx1"/>
                </a:solidFill>
                <a:effectLst/>
                <a:latin typeface="+mn-lt"/>
                <a:ea typeface="+mn-ea"/>
                <a:cs typeface="+mn-cs"/>
              </a:rPr>
              <a:t>normal</a:t>
            </a:r>
            <a:r>
              <a:rPr lang="en-US" sz="1200" kern="1200" dirty="0">
                <a:solidFill>
                  <a:schemeClr val="tx1"/>
                </a:solidFill>
                <a:effectLst/>
                <a:latin typeface="+mn-lt"/>
                <a:ea typeface="+mn-ea"/>
                <a:cs typeface="+mn-cs"/>
              </a:rPr>
              <a:t> forms, with each subsequent form more normalized than the last (Wang &amp; Chan, 2004).</a:t>
            </a:r>
          </a:p>
          <a:p>
            <a:pPr lvl="1"/>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First Normal Form (Teory et al., 2011)</a:t>
            </a:r>
          </a:p>
          <a:p>
            <a:pPr lvl="0"/>
            <a:r>
              <a:rPr lang="en-US" sz="1200" kern="1200" dirty="0">
                <a:solidFill>
                  <a:schemeClr val="tx1"/>
                </a:solidFill>
                <a:effectLst/>
                <a:latin typeface="+mn-lt"/>
                <a:ea typeface="+mn-ea"/>
                <a:cs typeface="+mn-cs"/>
              </a:rPr>
              <a:t>	The first normal form prioritizes keeping data on the cell level atomic; one entry per table attribute (Teory et al., 2011). While first normal form still leaves the database susceptible to rampant repeated data, a single atomic value per cell ensures data within the database is more easily than a completely denormalized database (Teory et al., 2011).</a:t>
            </a:r>
          </a:p>
          <a:p>
            <a:pPr lvl="1"/>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Second Normal Form (Teory et al., 2011)</a:t>
            </a:r>
          </a:p>
          <a:p>
            <a:pPr lvl="0"/>
            <a:r>
              <a:rPr lang="en-US" sz="1200" kern="1200" dirty="0">
                <a:solidFill>
                  <a:schemeClr val="tx1"/>
                </a:solidFill>
                <a:effectLst/>
                <a:latin typeface="+mn-lt"/>
                <a:ea typeface="+mn-ea"/>
                <a:cs typeface="+mn-cs"/>
              </a:rPr>
              <a:t>	Second Normal Form builds on first normal form, bonding information closely with its respective table identifier or </a:t>
            </a:r>
            <a:r>
              <a:rPr lang="en-US" sz="1200" i="1" kern="1200" dirty="0">
                <a:solidFill>
                  <a:schemeClr val="tx1"/>
                </a:solidFill>
                <a:effectLst/>
                <a:latin typeface="+mn-lt"/>
                <a:ea typeface="+mn-ea"/>
                <a:cs typeface="+mn-cs"/>
              </a:rPr>
              <a:t>primary key, </a:t>
            </a:r>
            <a:r>
              <a:rPr lang="en-US" sz="1200" kern="1200" dirty="0">
                <a:solidFill>
                  <a:schemeClr val="tx1"/>
                </a:solidFill>
                <a:effectLst/>
                <a:latin typeface="+mn-lt"/>
                <a:ea typeface="+mn-ea"/>
                <a:cs typeface="+mn-cs"/>
              </a:rPr>
              <a:t>a unique identifier for that table that assists in identifying distinct attributes within the table (Teory et al., 2011). If the data does not relate to that primary key, it should be moved to a table more closely aligned with that attribute (Teory et al., 2011).</a:t>
            </a:r>
          </a:p>
          <a:p>
            <a:pPr lvl="1"/>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Third Normal Form (Teory et al., 2011)</a:t>
            </a:r>
          </a:p>
          <a:p>
            <a:pPr lvl="0"/>
            <a:r>
              <a:rPr lang="en-US" sz="1200" kern="1200" dirty="0">
                <a:solidFill>
                  <a:schemeClr val="tx1"/>
                </a:solidFill>
                <a:effectLst/>
                <a:latin typeface="+mn-lt"/>
                <a:ea typeface="+mn-ea"/>
                <a:cs typeface="+mn-cs"/>
              </a:rPr>
              <a:t>	Further building on second normal form, third normal form assumes a table is built with transitive dependencies in mind; rather than directly list information relating to an attribute, a table in third normal form will refer to a separate table that provides that information, along with other information that may be relevant to the information being retrieved (Teory et al., 2011). </a:t>
            </a:r>
          </a:p>
          <a:p>
            <a:pPr lvl="0"/>
            <a:r>
              <a:rPr lang="en-US" sz="1200" kern="1200" dirty="0">
                <a:solidFill>
                  <a:schemeClr val="tx1"/>
                </a:solidFill>
                <a:effectLst/>
                <a:latin typeface="+mn-lt"/>
                <a:ea typeface="+mn-ea"/>
                <a:cs typeface="+mn-cs"/>
              </a:rPr>
              <a:t>	This form is very effective for minimizing redundant data, allowing database designers to refer to relevant keys directly and connect tables through joins. Other normal forms exist but may be beyond the scope of this project; adjustments can be made to reflect organizational needs later in development.</a:t>
            </a:r>
          </a:p>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5</a:t>
            </a:fld>
            <a:endParaRPr lang="en-US"/>
          </a:p>
        </p:txBody>
      </p:sp>
    </p:spTree>
    <p:extLst>
      <p:ext uri="{BB962C8B-B14F-4D97-AF65-F5344CB8AC3E}">
        <p14:creationId xmlns:p14="http://schemas.microsoft.com/office/powerpoint/2010/main" val="1495799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Wait for a Record to Commit or Roll Back (IBM, 2025)</a:t>
            </a:r>
          </a:p>
          <a:p>
            <a:pPr lvl="0"/>
            <a:r>
              <a:rPr lang="en-US" sz="1200" kern="1200" dirty="0">
                <a:solidFill>
                  <a:schemeClr val="tx1"/>
                </a:solidFill>
                <a:effectLst/>
                <a:latin typeface="+mn-lt"/>
                <a:ea typeface="+mn-ea"/>
                <a:cs typeface="+mn-cs"/>
              </a:rPr>
              <a:t>	Given the current database performance, this seems to be the most likely culprit for lacking performance in multiple users attempting to record data in the database. </a:t>
            </a:r>
          </a:p>
          <a:p>
            <a:pPr lvl="0"/>
            <a:r>
              <a:rPr lang="en-US" sz="1200" i="1" kern="1200" dirty="0">
                <a:solidFill>
                  <a:schemeClr val="tx1"/>
                </a:solidFill>
                <a:effectLst/>
                <a:latin typeface="+mn-lt"/>
                <a:ea typeface="+mn-ea"/>
                <a:cs typeface="+mn-cs"/>
              </a:rPr>
              <a:t>	Wait</a:t>
            </a:r>
            <a:r>
              <a:rPr lang="en-US" sz="1200" kern="1200" dirty="0">
                <a:solidFill>
                  <a:schemeClr val="tx1"/>
                </a:solidFill>
                <a:effectLst/>
                <a:latin typeface="+mn-lt"/>
                <a:ea typeface="+mn-ea"/>
                <a:cs typeface="+mn-cs"/>
              </a:rPr>
              <a:t> will attempt to resolve record concurrency errors by stalling until a record is modified or being updated (IBM, 2025). While the safest option, this can cause significant delays and slow database performance. </a:t>
            </a:r>
          </a:p>
          <a:p>
            <a:pPr lvl="1"/>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Use Available Data (IBM, 2025)</a:t>
            </a:r>
          </a:p>
          <a:p>
            <a:pPr lvl="0"/>
            <a:r>
              <a:rPr lang="en-US" sz="1200" kern="1200" dirty="0">
                <a:solidFill>
                  <a:schemeClr val="tx1"/>
                </a:solidFill>
                <a:effectLst/>
                <a:latin typeface="+mn-lt"/>
                <a:ea typeface="+mn-ea"/>
                <a:cs typeface="+mn-cs"/>
              </a:rPr>
              <a:t>	As an alternative to waiting, database management software may allow users to read the most recent record as a read-only value (IBM, 2025). If writes or other adjustments to the database are attempted, the system may skip data that is currently unavailable, similarly to the </a:t>
            </a:r>
            <a:r>
              <a:rPr lang="en-US" sz="1200" i="1" kern="1200" dirty="0">
                <a:solidFill>
                  <a:schemeClr val="tx1"/>
                </a:solidFill>
                <a:effectLst/>
                <a:latin typeface="+mn-lt"/>
                <a:ea typeface="+mn-ea"/>
                <a:cs typeface="+mn-cs"/>
              </a:rPr>
              <a:t>Wait</a:t>
            </a:r>
            <a:r>
              <a:rPr lang="en-US" sz="1200" kern="1200" dirty="0">
                <a:solidFill>
                  <a:schemeClr val="tx1"/>
                </a:solidFill>
                <a:effectLst/>
                <a:latin typeface="+mn-lt"/>
                <a:ea typeface="+mn-ea"/>
                <a:cs typeface="+mn-cs"/>
              </a:rPr>
              <a:t> concurrency management strategy (IBM, 2025). This ensures the data is accessible, even if it is unmodifiable at the time of access. </a:t>
            </a:r>
          </a:p>
          <a:p>
            <a:pPr lvl="1"/>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Skip Locked Records (IBM, 2025)</a:t>
            </a:r>
          </a:p>
          <a:p>
            <a:pPr lvl="0"/>
            <a:r>
              <a:rPr lang="en-US" sz="1200" kern="1200" dirty="0">
                <a:solidFill>
                  <a:schemeClr val="tx1"/>
                </a:solidFill>
                <a:effectLst/>
                <a:latin typeface="+mn-lt"/>
                <a:ea typeface="+mn-ea"/>
                <a:cs typeface="+mn-cs"/>
              </a:rPr>
              <a:t>	Another alternative to waiting is skipping records outright. Rather than allow read-only access to data or waiting to write to a record that’s currently being modified, skipping a busy record can be an effective solution for preventing record concurrency issues and allowing users to perform database adjustments (IBM, 2025). </a:t>
            </a:r>
          </a:p>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6</a:t>
            </a:fld>
            <a:endParaRPr lang="en-US"/>
          </a:p>
        </p:txBody>
      </p:sp>
    </p:spTree>
    <p:extLst>
      <p:ext uri="{BB962C8B-B14F-4D97-AF65-F5344CB8AC3E}">
        <p14:creationId xmlns:p14="http://schemas.microsoft.com/office/powerpoint/2010/main" val="1588769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EEA3A-3E7E-EBEF-45D5-F6FB25E547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604B14-BEC8-9F04-4CFB-08D546C0D72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70F1381-A9E4-12D6-FD0A-DCA6A33CC477}"/>
              </a:ext>
            </a:extLst>
          </p:cNvPr>
          <p:cNvSpPr>
            <a:spLocks noGrp="1"/>
          </p:cNvSpPr>
          <p:nvPr>
            <p:ph type="body" idx="1"/>
          </p:nvPr>
        </p:nvSpPr>
        <p:spPr/>
        <p:txBody>
          <a:bodyPr/>
          <a:lstStyle/>
          <a:p>
            <a:pPr lvl="0"/>
            <a:r>
              <a:rPr lang="en-US" sz="1200" kern="1200" dirty="0">
                <a:solidFill>
                  <a:schemeClr val="tx1"/>
                </a:solidFill>
                <a:effectLst/>
                <a:latin typeface="+mn-lt"/>
                <a:ea typeface="+mn-ea"/>
                <a:cs typeface="+mn-cs"/>
              </a:rPr>
              <a:t>Reduce the Overall Number of Triggers (Pollack, 2021)</a:t>
            </a:r>
          </a:p>
          <a:p>
            <a:pPr lvl="0"/>
            <a:r>
              <a:rPr lang="en-US" sz="1200" kern="1200" dirty="0">
                <a:solidFill>
                  <a:schemeClr val="tx1"/>
                </a:solidFill>
                <a:effectLst/>
                <a:latin typeface="+mn-lt"/>
                <a:ea typeface="+mn-ea"/>
                <a:cs typeface="+mn-cs"/>
              </a:rPr>
              <a:t>	Fewer, higher-quality triggers localized on one database can reduce overhead, freeing resources for additional users to operate within the database (Pollack, 2021).</a:t>
            </a:r>
          </a:p>
          <a:p>
            <a:pPr lvl="1"/>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Optimize Joins Whenever Possible</a:t>
            </a:r>
          </a:p>
          <a:p>
            <a:pPr lvl="0"/>
            <a:r>
              <a:rPr lang="en-US" sz="1200" kern="1200" dirty="0">
                <a:solidFill>
                  <a:schemeClr val="tx1"/>
                </a:solidFill>
                <a:effectLst/>
                <a:latin typeface="+mn-lt"/>
                <a:ea typeface="+mn-ea"/>
                <a:cs typeface="+mn-cs"/>
              </a:rPr>
              <a:t>	Joins and sub-queries utilizing indexed data in the database will operate more quickly and efficiently, improving data processing performance and getting users their results more quickly (IBM, 2026).</a:t>
            </a:r>
          </a:p>
          <a:p>
            <a:pPr lvl="1"/>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Normalization to Third Form (Teory et al., 2011)</a:t>
            </a:r>
          </a:p>
          <a:p>
            <a:pPr lvl="0"/>
            <a:r>
              <a:rPr lang="en-US" sz="1200" kern="1200" dirty="0">
                <a:solidFill>
                  <a:schemeClr val="tx1"/>
                </a:solidFill>
                <a:effectLst/>
                <a:latin typeface="+mn-lt"/>
                <a:ea typeface="+mn-ea"/>
                <a:cs typeface="+mn-cs"/>
              </a:rPr>
              <a:t>	Normalizing to the third form will greatly reduce redundant data, opting instead to reference data by a repeated key utilizing fewer characters, improving database performance (Teory et al., 2011). While not a catch-all solution (compounding joins may become expensive and warrant denormalizing to second or first form), this solution should be sufficient for the County.</a:t>
            </a:r>
          </a:p>
          <a:p>
            <a:pPr lvl="1"/>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Use Available Data With Multi-User Access (IBM, 2025)</a:t>
            </a:r>
          </a:p>
          <a:p>
            <a:pPr lvl="0"/>
            <a:r>
              <a:rPr lang="en-US" sz="1200" kern="1200" dirty="0">
                <a:solidFill>
                  <a:schemeClr val="tx1"/>
                </a:solidFill>
                <a:effectLst/>
                <a:latin typeface="+mn-lt"/>
                <a:ea typeface="+mn-ea"/>
                <a:cs typeface="+mn-cs"/>
              </a:rPr>
              <a:t>	Utilizing available data as opposed to waiting for record availability or can be an effective strategy for reducing downtime as users wait to modify or retrieve records (IBM, 2025). This approach allows users to process data with available data, reducing overhead that would otherwise be spent waiting.</a:t>
            </a:r>
          </a:p>
          <a:p>
            <a:endParaRPr lang="en-US" dirty="0"/>
          </a:p>
        </p:txBody>
      </p:sp>
      <p:sp>
        <p:nvSpPr>
          <p:cNvPr id="4" name="Slide Number Placeholder 3">
            <a:extLst>
              <a:ext uri="{FF2B5EF4-FFF2-40B4-BE49-F238E27FC236}">
                <a16:creationId xmlns:a16="http://schemas.microsoft.com/office/drawing/2014/main" id="{0CA2738E-04B1-CF51-7FCA-56BDEB4BE0A8}"/>
              </a:ext>
            </a:extLst>
          </p:cNvPr>
          <p:cNvSpPr>
            <a:spLocks noGrp="1"/>
          </p:cNvSpPr>
          <p:nvPr>
            <p:ph type="sldNum" sz="quarter" idx="5"/>
          </p:nvPr>
        </p:nvSpPr>
        <p:spPr/>
        <p:txBody>
          <a:bodyPr/>
          <a:lstStyle/>
          <a:p>
            <a:fld id="{CC5DA344-5FA2-43F7-9D95-CA56C82B080A}" type="slidenum">
              <a:rPr lang="en-US" smtClean="0"/>
              <a:t>7</a:t>
            </a:fld>
            <a:endParaRPr lang="en-US"/>
          </a:p>
        </p:txBody>
      </p:sp>
    </p:spTree>
    <p:extLst>
      <p:ext uri="{BB962C8B-B14F-4D97-AF65-F5344CB8AC3E}">
        <p14:creationId xmlns:p14="http://schemas.microsoft.com/office/powerpoint/2010/main" val="33211877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lvl="1"/>
            <a:r>
              <a:rPr lang="en-US" sz="1200" kern="1200" dirty="0">
                <a:solidFill>
                  <a:schemeClr val="tx1"/>
                </a:solidFill>
                <a:effectLst/>
                <a:latin typeface="+mn-lt"/>
                <a:ea typeface="+mn-ea"/>
                <a:cs typeface="+mn-cs"/>
              </a:rPr>
              <a:t>Context</a:t>
            </a:r>
          </a:p>
          <a:p>
            <a:pPr lvl="2"/>
            <a:r>
              <a:rPr lang="en-US" sz="1200" kern="1200" dirty="0">
                <a:solidFill>
                  <a:schemeClr val="tx1"/>
                </a:solidFill>
                <a:effectLst/>
                <a:latin typeface="+mn-lt"/>
                <a:ea typeface="+mn-ea"/>
                <a:cs typeface="+mn-cs"/>
              </a:rPr>
              <a:t>The purpose of the second half of this presentation is to address potential requirements, benefits, and methods for migrating our existing database from locally hosted servers to an online database platform.</a:t>
            </a:r>
          </a:p>
          <a:p>
            <a:pPr lvl="2"/>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Potential Platform Candidates</a:t>
            </a:r>
          </a:p>
          <a:p>
            <a:pPr lvl="2"/>
            <a:r>
              <a:rPr lang="en-US" sz="1200" kern="1200" dirty="0">
                <a:solidFill>
                  <a:schemeClr val="tx1"/>
                </a:solidFill>
                <a:effectLst/>
                <a:latin typeface="+mn-lt"/>
                <a:ea typeface="+mn-ea"/>
                <a:cs typeface="+mn-cs"/>
              </a:rPr>
              <a:t>Prospective web database methods such as hosted database servers or </a:t>
            </a:r>
            <a:r>
              <a:rPr lang="en-US" sz="1200" i="1" kern="1200" dirty="0">
                <a:solidFill>
                  <a:schemeClr val="tx1"/>
                </a:solidFill>
                <a:effectLst/>
                <a:latin typeface="+mn-lt"/>
                <a:ea typeface="+mn-ea"/>
                <a:cs typeface="+mn-cs"/>
              </a:rPr>
              <a:t>Software as a Service</a:t>
            </a:r>
            <a:r>
              <a:rPr lang="en-US" sz="1200" kern="1200" dirty="0">
                <a:solidFill>
                  <a:schemeClr val="tx1"/>
                </a:solidFill>
                <a:effectLst/>
                <a:latin typeface="+mn-lt"/>
                <a:ea typeface="+mn-ea"/>
                <a:cs typeface="+mn-cs"/>
              </a:rPr>
              <a:t> options will be identified along with their respective benefits and potential drawbacks. </a:t>
            </a:r>
          </a:p>
          <a:p>
            <a:pPr lvl="2"/>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Migration Requirements</a:t>
            </a:r>
          </a:p>
          <a:p>
            <a:pPr lvl="2"/>
            <a:r>
              <a:rPr lang="en-US" sz="1200" kern="1200" dirty="0">
                <a:solidFill>
                  <a:schemeClr val="tx1"/>
                </a:solidFill>
                <a:effectLst/>
                <a:latin typeface="+mn-lt"/>
                <a:ea typeface="+mn-ea"/>
                <a:cs typeface="+mn-cs"/>
              </a:rPr>
              <a:t>After an appropriate web interface has been identified, the implementation process of migrating the database to that interface will be examined and outlined.</a:t>
            </a:r>
          </a:p>
          <a:p>
            <a:pPr lvl="2"/>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Cost Effectiveness</a:t>
            </a:r>
          </a:p>
          <a:p>
            <a:pPr lvl="2"/>
            <a:r>
              <a:rPr lang="en-US" sz="1200" kern="1200" dirty="0">
                <a:solidFill>
                  <a:schemeClr val="tx1"/>
                </a:solidFill>
                <a:effectLst/>
                <a:latin typeface="+mn-lt"/>
                <a:ea typeface="+mn-ea"/>
                <a:cs typeface="+mn-cs"/>
              </a:rPr>
              <a:t>Finally, when the implementation requirements have been outlined, the potential fiscal benefits of migrating to this system will be identified.</a:t>
            </a:r>
          </a:p>
        </p:txBody>
      </p:sp>
      <p:sp>
        <p:nvSpPr>
          <p:cNvPr id="4" name="Slide Number Placeholder 3"/>
          <p:cNvSpPr>
            <a:spLocks noGrp="1"/>
          </p:cNvSpPr>
          <p:nvPr>
            <p:ph type="sldNum" sz="quarter" idx="5"/>
          </p:nvPr>
        </p:nvSpPr>
        <p:spPr/>
        <p:txBody>
          <a:bodyPr/>
          <a:lstStyle/>
          <a:p>
            <a:fld id="{CC5DA344-5FA2-43F7-9D95-CA56C82B080A}" type="slidenum">
              <a:rPr lang="en-US" smtClean="0"/>
              <a:t>8</a:t>
            </a:fld>
            <a:endParaRPr lang="en-US"/>
          </a:p>
        </p:txBody>
      </p:sp>
    </p:spTree>
    <p:extLst>
      <p:ext uri="{BB962C8B-B14F-4D97-AF65-F5344CB8AC3E}">
        <p14:creationId xmlns:p14="http://schemas.microsoft.com/office/powerpoint/2010/main" val="3988440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lvl="1"/>
            <a:r>
              <a:rPr lang="en-US" sz="1200" kern="1200" dirty="0">
                <a:solidFill>
                  <a:schemeClr val="tx1"/>
                </a:solidFill>
                <a:effectLst/>
                <a:latin typeface="+mn-lt"/>
                <a:ea typeface="+mn-ea"/>
                <a:cs typeface="+mn-cs"/>
              </a:rPr>
              <a:t>Accessibility</a:t>
            </a:r>
          </a:p>
          <a:p>
            <a:pPr lvl="2"/>
            <a:r>
              <a:rPr lang="en-US" sz="1200" kern="1200" dirty="0">
                <a:solidFill>
                  <a:schemeClr val="tx1"/>
                </a:solidFill>
                <a:effectLst/>
                <a:latin typeface="+mn-lt"/>
                <a:ea typeface="+mn-ea"/>
                <a:cs typeface="+mn-cs"/>
              </a:rPr>
              <a:t>Pivoting to a cloud database provides the organization with a platform that accommodates off-site productivity (Chen, 2023). Remote workers and workers in other locations within the organization can access an online or cloud-based database more readily and concurrently than an explicitly on-site database.</a:t>
            </a:r>
          </a:p>
          <a:p>
            <a:pPr lvl="2"/>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Design Flexibility</a:t>
            </a:r>
          </a:p>
          <a:p>
            <a:pPr lvl="2"/>
            <a:r>
              <a:rPr lang="en-US" sz="1200" kern="1200" dirty="0">
                <a:solidFill>
                  <a:schemeClr val="tx1"/>
                </a:solidFill>
                <a:effectLst/>
                <a:latin typeface="+mn-lt"/>
                <a:ea typeface="+mn-ea"/>
                <a:cs typeface="+mn-cs"/>
              </a:rPr>
              <a:t>With the growing prevalence of cloud computing, cloud computing platforms allow the organization to find a provider that matches their needs most closely with costs accurately reflecting those needs in practice (AWS Whitepaper, 2024).</a:t>
            </a:r>
          </a:p>
          <a:p>
            <a:pPr lvl="2"/>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Reliability</a:t>
            </a:r>
          </a:p>
          <a:p>
            <a:pPr lvl="2"/>
            <a:r>
              <a:rPr lang="en-US" sz="1200" kern="1200" dirty="0">
                <a:solidFill>
                  <a:schemeClr val="tx1"/>
                </a:solidFill>
                <a:effectLst/>
                <a:latin typeface="+mn-lt"/>
                <a:ea typeface="+mn-ea"/>
                <a:cs typeface="+mn-cs"/>
              </a:rPr>
              <a:t>Dedicated cloud providers have the hardware and ability to mitigate potential performance bottlenecks stemming from excessive server access, improving database speeds by routing traffic between servers rather than overloading a single server (Chen, 2023). This server redundancy may also improve server uptime, ensuring the organization can complete work as needed with fewer data blackouts.</a:t>
            </a:r>
          </a:p>
          <a:p>
            <a:pPr lvl="2"/>
            <a:r>
              <a:rPr lang="en-US" sz="1200" kern="1200" dirty="0">
                <a:solidFill>
                  <a:schemeClr val="tx1"/>
                </a:solidFill>
                <a:effectLst/>
                <a:latin typeface="+mn-lt"/>
                <a:ea typeface="+mn-ea"/>
                <a:cs typeface="+mn-cs"/>
              </a:rPr>
              <a:t>If the organization stands to benefit greatly from these criteria, a case may be made to adopt cloud-based database architecture over existing on-site structures. </a:t>
            </a:r>
          </a:p>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9</a:t>
            </a:fld>
            <a:endParaRPr lang="en-US"/>
          </a:p>
        </p:txBody>
      </p:sp>
    </p:spTree>
    <p:extLst>
      <p:ext uri="{BB962C8B-B14F-4D97-AF65-F5344CB8AC3E}">
        <p14:creationId xmlns:p14="http://schemas.microsoft.com/office/powerpoint/2010/main" val="206508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lvl="1"/>
            <a:r>
              <a:rPr lang="en-US" sz="1200" kern="1200" dirty="0">
                <a:solidFill>
                  <a:schemeClr val="tx1"/>
                </a:solidFill>
                <a:effectLst/>
                <a:latin typeface="+mn-lt"/>
                <a:ea typeface="+mn-ea"/>
                <a:cs typeface="+mn-cs"/>
              </a:rPr>
              <a:t>Lower Introductory Costs</a:t>
            </a:r>
          </a:p>
          <a:p>
            <a:pPr lvl="2"/>
            <a:r>
              <a:rPr lang="en-US" sz="1200" kern="1200" dirty="0">
                <a:solidFill>
                  <a:schemeClr val="tx1"/>
                </a:solidFill>
                <a:effectLst/>
                <a:latin typeface="+mn-lt"/>
                <a:ea typeface="+mn-ea"/>
                <a:cs typeface="+mn-cs"/>
              </a:rPr>
              <a:t>A cloud database offsets onsite hardware costs to a cloud provider that runs, maintains, and delegates their own hardware to meet organizational needs (Chen, 2023). </a:t>
            </a:r>
          </a:p>
          <a:p>
            <a:pPr lvl="2"/>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Improved Operational Costs</a:t>
            </a:r>
          </a:p>
          <a:p>
            <a:pPr lvl="2"/>
            <a:r>
              <a:rPr lang="en-US" sz="1200" kern="1200" dirty="0">
                <a:solidFill>
                  <a:schemeClr val="tx1"/>
                </a:solidFill>
                <a:effectLst/>
                <a:latin typeface="+mn-lt"/>
                <a:ea typeface="+mn-ea"/>
                <a:cs typeface="+mn-cs"/>
              </a:rPr>
              <a:t>In addition to the lower upfront costs, cloud providers optimize operations by reducing ongoing property costs to house servers and the number of personnel needed to install and maintain those servers (Microsoft, n.d.). </a:t>
            </a:r>
          </a:p>
          <a:p>
            <a:pPr lvl="2"/>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Improved Deployment</a:t>
            </a:r>
          </a:p>
          <a:p>
            <a:pPr lvl="2"/>
            <a:r>
              <a:rPr lang="en-US" sz="1200" kern="1200" dirty="0">
                <a:solidFill>
                  <a:schemeClr val="tx1"/>
                </a:solidFill>
                <a:effectLst/>
                <a:latin typeface="+mn-lt"/>
                <a:ea typeface="+mn-ea"/>
                <a:cs typeface="+mn-cs"/>
              </a:rPr>
              <a:t>The abundance of servers within a cloud environment may offer the organization subsequent performance boons through improved performance (Bogusch, 2024). Greater processing time can improve productivity, distribute intense query and CRUD workloads, and ultimately assist the organization with shipping completed projects should it be necessary (Bogusch, 2024). </a:t>
            </a:r>
          </a:p>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10</a:t>
            </a:fld>
            <a:endParaRPr lang="en-US"/>
          </a:p>
        </p:txBody>
      </p:sp>
    </p:spTree>
    <p:extLst>
      <p:ext uri="{BB962C8B-B14F-4D97-AF65-F5344CB8AC3E}">
        <p14:creationId xmlns:p14="http://schemas.microsoft.com/office/powerpoint/2010/main" val="27299733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Online Database Platforms </a:t>
            </a:r>
          </a:p>
          <a:p>
            <a:pPr lvl="0"/>
            <a:r>
              <a:rPr lang="en-US" sz="1200" kern="1200" dirty="0">
                <a:solidFill>
                  <a:schemeClr val="tx1"/>
                </a:solidFill>
                <a:effectLst/>
                <a:latin typeface="+mn-lt"/>
                <a:ea typeface="+mn-ea"/>
                <a:cs typeface="+mn-cs"/>
              </a:rPr>
              <a:t>	When choosing a database software, the degree of access for organizational operations needs to be considered. Are custom schema and performance tweaking a high priority? Is the data standardized and designed to be as simple and obviously useful as possible? These questions can assist with identifying the best database platform for the organization’s needs. </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Hosted SQL Servers</a:t>
            </a:r>
          </a:p>
          <a:p>
            <a:pPr lvl="0"/>
            <a:r>
              <a:rPr lang="en-US" sz="1200" kern="1200" dirty="0">
                <a:solidFill>
                  <a:schemeClr val="tx1"/>
                </a:solidFill>
                <a:effectLst/>
                <a:latin typeface="+mn-lt"/>
                <a:ea typeface="+mn-ea"/>
                <a:cs typeface="+mn-cs"/>
              </a:rPr>
              <a:t>	Hosted SQL databases vary greatly and can be customized to match the organization’s current needs. Private and on-site clouds may allow the organization to tailor hardware, database schema, and database security with a great degree of freedom (Oracle, 2021). Alternatively, a less-involved approach may involve using a public cloud provider and handling database schema in-house, offloading a great deal of maintenance to a cloud provider (Oracle, 2021).</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SaaS Providers</a:t>
            </a:r>
          </a:p>
          <a:p>
            <a:pPr lvl="0"/>
            <a:r>
              <a:rPr lang="en-US" sz="1200" kern="1200" dirty="0">
                <a:solidFill>
                  <a:schemeClr val="tx1"/>
                </a:solidFill>
                <a:effectLst/>
                <a:latin typeface="+mn-lt"/>
                <a:ea typeface="+mn-ea"/>
                <a:cs typeface="+mn-cs"/>
              </a:rPr>
              <a:t>	Potentially the simplest platforms for database management in contrast to self-hosted and externally hosted databases, Software as a Service applications are a form of cloud computing that aims to reduce friction in a business setting. SaaS platforms focus on reducing potential customization in favor of improving productivity (Oracle, n.d.).</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Cloud Deployment Models</a:t>
            </a:r>
          </a:p>
          <a:p>
            <a:pPr lvl="0"/>
            <a:r>
              <a:rPr lang="en-US" sz="1200" kern="1200" dirty="0">
                <a:solidFill>
                  <a:schemeClr val="tx1"/>
                </a:solidFill>
                <a:effectLst/>
                <a:latin typeface="+mn-lt"/>
                <a:ea typeface="+mn-ea"/>
                <a:cs typeface="+mn-cs"/>
              </a:rPr>
              <a:t>	When the ideal database server software candidate has been decided, the organization should then consider cloud deployment models that match their needs. Public clouds offer the convenience of storing data in another organization’s facilities and using their hardware while private clouds require a higher cost of entry for the organization, but greater data security and privacy tailored to organizational needs (Intel, n.d.).</a:t>
            </a:r>
          </a:p>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11</a:t>
            </a:fld>
            <a:endParaRPr lang="en-US"/>
          </a:p>
        </p:txBody>
      </p:sp>
    </p:spTree>
    <p:extLst>
      <p:ext uri="{BB962C8B-B14F-4D97-AF65-F5344CB8AC3E}">
        <p14:creationId xmlns:p14="http://schemas.microsoft.com/office/powerpoint/2010/main" val="14957996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lvl="1"/>
            <a:r>
              <a:rPr lang="en-US" sz="1200" kern="1200" dirty="0">
                <a:solidFill>
                  <a:schemeClr val="tx1"/>
                </a:solidFill>
                <a:effectLst/>
                <a:latin typeface="+mn-lt"/>
                <a:ea typeface="+mn-ea"/>
                <a:cs typeface="+mn-cs"/>
              </a:rPr>
              <a:t>Greater Control Over Hardware and Software</a:t>
            </a:r>
          </a:p>
          <a:p>
            <a:pPr lvl="1"/>
            <a:r>
              <a:rPr lang="en-US" sz="1200" kern="1200" dirty="0">
                <a:solidFill>
                  <a:schemeClr val="tx1"/>
                </a:solidFill>
                <a:effectLst/>
                <a:latin typeface="+mn-lt"/>
                <a:ea typeface="+mn-ea"/>
                <a:cs typeface="+mn-cs"/>
              </a:rPr>
              <a:t>	The primary advantage of a Hosted SQL Server is the flexibility it affords the organization in terms of design and database access. Schema can be tailored to fit the organization’s use case; greatly improved database accessibility through the web, tailored privacy and security, and improved database availability through dedicated servers may prove a boon to the organization (Oracle, 2021). </a:t>
            </a:r>
          </a:p>
          <a:p>
            <a:pPr lvl="1"/>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Ease of Scaling</a:t>
            </a:r>
          </a:p>
          <a:p>
            <a:pPr lvl="1"/>
            <a:r>
              <a:rPr lang="en-US" sz="1200" kern="1200" dirty="0">
                <a:solidFill>
                  <a:schemeClr val="tx1"/>
                </a:solidFill>
                <a:effectLst/>
                <a:latin typeface="+mn-lt"/>
                <a:ea typeface="+mn-ea"/>
                <a:cs typeface="+mn-cs"/>
              </a:rPr>
              <a:t>	In addition to improved data accessibility and customization, Hosted SQL Servers may offer improved ease of scaling if opting for a dedicated provider over solely in-house data storage (MongoDB, n.d.). Hardware costs and personnel costs can be greatly reduced through cloud storage and providers’ models; typically, the organization is only paying for the data it uses and subscriptions can be adjusted to match those needs easily (Diamond, 2020).</a:t>
            </a:r>
          </a:p>
          <a:p>
            <a:pPr lvl="1"/>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Greater Complexity</a:t>
            </a:r>
          </a:p>
          <a:p>
            <a:pPr lvl="1"/>
            <a:r>
              <a:rPr lang="en-US" sz="1200" kern="1200" dirty="0">
                <a:solidFill>
                  <a:schemeClr val="tx1"/>
                </a:solidFill>
                <a:effectLst/>
                <a:latin typeface="+mn-lt"/>
                <a:ea typeface="+mn-ea"/>
                <a:cs typeface="+mn-cs"/>
              </a:rPr>
              <a:t>	Unfortunately, with the addition of greater design freedom comes the responsibility of designing a database that runs efficiently and assists the organization as intended. Poor database design may introduce greater costs through wasted storage space due to repeated data or otherwise poorly designed database schema, poor database performance, or reduced uptime through poorly optimized queries. </a:t>
            </a:r>
          </a:p>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12</a:t>
            </a:fld>
            <a:endParaRPr lang="en-US"/>
          </a:p>
        </p:txBody>
      </p:sp>
    </p:spTree>
    <p:extLst>
      <p:ext uri="{BB962C8B-B14F-4D97-AF65-F5344CB8AC3E}">
        <p14:creationId xmlns:p14="http://schemas.microsoft.com/office/powerpoint/2010/main" val="15887698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EEA3A-3E7E-EBEF-45D5-F6FB25E547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604B14-BEC8-9F04-4CFB-08D546C0D72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70F1381-A9E4-12D6-FD0A-DCA6A33CC477}"/>
              </a:ext>
            </a:extLst>
          </p:cNvPr>
          <p:cNvSpPr>
            <a:spLocks noGrp="1"/>
          </p:cNvSpPr>
          <p:nvPr>
            <p:ph type="body" idx="1"/>
          </p:nvPr>
        </p:nvSpPr>
        <p:spPr/>
        <p:txBody>
          <a:bodyPr/>
          <a:lstStyle/>
          <a:p>
            <a:pPr lvl="1"/>
            <a:r>
              <a:rPr lang="en-US" sz="1200" kern="1200" dirty="0">
                <a:solidFill>
                  <a:schemeClr val="tx1"/>
                </a:solidFill>
                <a:effectLst/>
                <a:latin typeface="+mn-lt"/>
                <a:ea typeface="+mn-ea"/>
                <a:cs typeface="+mn-cs"/>
              </a:rPr>
              <a:t>Ease of Development</a:t>
            </a:r>
          </a:p>
          <a:p>
            <a:pPr lvl="1"/>
            <a:r>
              <a:rPr lang="en-US" sz="1200" kern="1200" dirty="0">
                <a:solidFill>
                  <a:schemeClr val="tx1"/>
                </a:solidFill>
                <a:effectLst/>
                <a:latin typeface="+mn-lt"/>
                <a:ea typeface="+mn-ea"/>
                <a:cs typeface="+mn-cs"/>
              </a:rPr>
              <a:t>	SaaS platforms may offer low- or no-code solutions to organizational problems (Microsoft, n.d.). Unlike a comparable SQL database, SaaS platforms provide software tailored to solve specific problems with simpler interfaces, allowing the organization to more quickly deploy functional databases (Oracle, n.d.). </a:t>
            </a:r>
          </a:p>
          <a:p>
            <a:pPr lvl="1"/>
            <a:r>
              <a:rPr lang="en-US" sz="1200" kern="1200" dirty="0">
                <a:solidFill>
                  <a:schemeClr val="tx1"/>
                </a:solidFill>
                <a:effectLst/>
                <a:latin typeface="+mn-lt"/>
                <a:ea typeface="+mn-ea"/>
                <a:cs typeface="+mn-cs"/>
              </a:rPr>
              <a:t>	</a:t>
            </a:r>
          </a:p>
          <a:p>
            <a:pPr lvl="1"/>
            <a:r>
              <a:rPr lang="en-US" sz="1200" kern="1200" dirty="0">
                <a:solidFill>
                  <a:schemeClr val="tx1"/>
                </a:solidFill>
                <a:effectLst/>
                <a:latin typeface="+mn-lt"/>
                <a:ea typeface="+mn-ea"/>
                <a:cs typeface="+mn-cs"/>
              </a:rPr>
              <a:t>	No hardware is necessary on-site, application interfaces may be more accessible through mobile devices through an application or browser, and, like cloud hosted database systems, SaaS platforms may scale costs with organizational needs (Microsoft, n.d.).</a:t>
            </a:r>
          </a:p>
          <a:p>
            <a:pPr lvl="1"/>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Purpose-Built Tools</a:t>
            </a:r>
          </a:p>
          <a:p>
            <a:pPr lvl="1"/>
            <a:r>
              <a:rPr lang="en-US" sz="1200" kern="1200" dirty="0">
                <a:solidFill>
                  <a:schemeClr val="tx1"/>
                </a:solidFill>
                <a:effectLst/>
                <a:latin typeface="+mn-lt"/>
                <a:ea typeface="+mn-ea"/>
                <a:cs typeface="+mn-cs"/>
              </a:rPr>
              <a:t>	In addition to the relative ease of use, SaaS platforms offer purpose-built tools that further streamline the development and analysis of the database (IBM Cloud Team, n.d.).</a:t>
            </a:r>
          </a:p>
          <a:p>
            <a:pPr lvl="1"/>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Reduced Flexibility</a:t>
            </a:r>
          </a:p>
          <a:p>
            <a:pPr lvl="1"/>
            <a:r>
              <a:rPr lang="en-US" sz="1200" kern="1200" dirty="0">
                <a:solidFill>
                  <a:schemeClr val="tx1"/>
                </a:solidFill>
                <a:effectLst/>
                <a:latin typeface="+mn-lt"/>
                <a:ea typeface="+mn-ea"/>
                <a:cs typeface="+mn-cs"/>
              </a:rPr>
              <a:t>	As part of the SaaS model of simpler interfaces, SaaS solutions may prove substantially less robust than a customized database tailored to the organization’s needs. If specific data with data types exclusive to the database needs to be implemented, for example, it may prove prohibitive in contrast to a comparable SQL database.</a:t>
            </a:r>
          </a:p>
          <a:p>
            <a:endParaRPr lang="en-US" dirty="0"/>
          </a:p>
        </p:txBody>
      </p:sp>
      <p:sp>
        <p:nvSpPr>
          <p:cNvPr id="4" name="Slide Number Placeholder 3">
            <a:extLst>
              <a:ext uri="{FF2B5EF4-FFF2-40B4-BE49-F238E27FC236}">
                <a16:creationId xmlns:a16="http://schemas.microsoft.com/office/drawing/2014/main" id="{0CA2738E-04B1-CF51-7FCA-56BDEB4BE0A8}"/>
              </a:ext>
            </a:extLst>
          </p:cNvPr>
          <p:cNvSpPr>
            <a:spLocks noGrp="1"/>
          </p:cNvSpPr>
          <p:nvPr>
            <p:ph type="sldNum" sz="quarter" idx="5"/>
          </p:nvPr>
        </p:nvSpPr>
        <p:spPr/>
        <p:txBody>
          <a:bodyPr/>
          <a:lstStyle/>
          <a:p>
            <a:fld id="{CC5DA344-5FA2-43F7-9D95-CA56C82B080A}" type="slidenum">
              <a:rPr lang="en-US" smtClean="0"/>
              <a:t>13</a:t>
            </a:fld>
            <a:endParaRPr lang="en-US"/>
          </a:p>
        </p:txBody>
      </p:sp>
    </p:spTree>
    <p:extLst>
      <p:ext uri="{BB962C8B-B14F-4D97-AF65-F5344CB8AC3E}">
        <p14:creationId xmlns:p14="http://schemas.microsoft.com/office/powerpoint/2010/main" val="33211877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07285-6365-E488-F6EC-104FC30C20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783275-D178-4ECA-68EC-8E12D8013D6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4FCEAFE-D8BA-403D-DF68-31FC9E33B934}"/>
              </a:ext>
            </a:extLst>
          </p:cNvPr>
          <p:cNvSpPr>
            <a:spLocks noGrp="1"/>
          </p:cNvSpPr>
          <p:nvPr>
            <p:ph type="body" idx="1"/>
          </p:nvPr>
        </p:nvSpPr>
        <p:spPr/>
        <p:txBody>
          <a:bodyPr/>
          <a:lstStyle/>
          <a:p>
            <a:pPr lvl="1"/>
            <a:r>
              <a:rPr lang="en-US" sz="1200" kern="1200" dirty="0">
                <a:solidFill>
                  <a:schemeClr val="tx1"/>
                </a:solidFill>
                <a:effectLst/>
                <a:latin typeface="+mn-lt"/>
                <a:ea typeface="+mn-ea"/>
                <a:cs typeface="+mn-cs"/>
              </a:rPr>
              <a:t>Encryption and Authentication</a:t>
            </a:r>
          </a:p>
          <a:p>
            <a:pPr lvl="1"/>
            <a:r>
              <a:rPr lang="en-US" sz="1200" kern="1200" dirty="0">
                <a:solidFill>
                  <a:schemeClr val="tx1"/>
                </a:solidFill>
                <a:effectLst/>
                <a:latin typeface="+mn-lt"/>
                <a:ea typeface="+mn-ea"/>
                <a:cs typeface="+mn-cs"/>
              </a:rPr>
              <a:t>	In addition to existing database security, dedicated cloud providers offer encryption and authentication technologies as part of their services (Microsoft Security, n.d.). Some providers will offer proprietary tools, further bolstering security for sensitive information against hostile agents (Atlassian Trust Center, n.d.). </a:t>
            </a:r>
          </a:p>
          <a:p>
            <a:pPr lvl="1"/>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Data Recovery</a:t>
            </a:r>
          </a:p>
          <a:p>
            <a:pPr lvl="1"/>
            <a:r>
              <a:rPr lang="en-US" sz="1200" kern="1200" dirty="0">
                <a:solidFill>
                  <a:schemeClr val="tx1"/>
                </a:solidFill>
                <a:effectLst/>
                <a:latin typeface="+mn-lt"/>
                <a:ea typeface="+mn-ea"/>
                <a:cs typeface="+mn-cs"/>
              </a:rPr>
              <a:t>	In addition to hardening potential attack surfaces through encryption and other compounding security technologies, platforms may also offer data recovery options, mitigating risks due to catastrophic hardware failure and preserving the organization’s data (AWS, n.d.).</a:t>
            </a:r>
          </a:p>
          <a:p>
            <a:pPr lvl="1"/>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Local and International Compliance</a:t>
            </a:r>
          </a:p>
          <a:p>
            <a:pPr lvl="1"/>
            <a:r>
              <a:rPr lang="en-US" sz="1200" kern="1200" dirty="0">
                <a:solidFill>
                  <a:schemeClr val="tx1"/>
                </a:solidFill>
                <a:effectLst/>
                <a:latin typeface="+mn-lt"/>
                <a:ea typeface="+mn-ea"/>
                <a:cs typeface="+mn-cs"/>
              </a:rPr>
              <a:t>	Finally, cloud providers are required to meet standards set through various national and international security standards, assisting the organization in how it meets those security requirements, such as HIPAA, the PCI-DSS, or the NIST 800-171 (AWS, n.d.). Rather than dedicate valuable time and resources to design and secure a database to those standards, a cloud provider may streamline the process by meeting requirements in advance (AWS, n.d.).</a:t>
            </a:r>
          </a:p>
          <a:p>
            <a:endParaRPr lang="en-US" dirty="0"/>
          </a:p>
        </p:txBody>
      </p:sp>
      <p:sp>
        <p:nvSpPr>
          <p:cNvPr id="4" name="Slide Number Placeholder 3">
            <a:extLst>
              <a:ext uri="{FF2B5EF4-FFF2-40B4-BE49-F238E27FC236}">
                <a16:creationId xmlns:a16="http://schemas.microsoft.com/office/drawing/2014/main" id="{0DB9C6F4-C9C7-3A4A-F2CA-B8B959EFAB5D}"/>
              </a:ext>
            </a:extLst>
          </p:cNvPr>
          <p:cNvSpPr>
            <a:spLocks noGrp="1"/>
          </p:cNvSpPr>
          <p:nvPr>
            <p:ph type="sldNum" sz="quarter" idx="5"/>
          </p:nvPr>
        </p:nvSpPr>
        <p:spPr/>
        <p:txBody>
          <a:bodyPr/>
          <a:lstStyle/>
          <a:p>
            <a:fld id="{CC5DA344-5FA2-43F7-9D95-CA56C82B080A}" type="slidenum">
              <a:rPr lang="en-US" smtClean="0"/>
              <a:t>14</a:t>
            </a:fld>
            <a:endParaRPr lang="en-US"/>
          </a:p>
        </p:txBody>
      </p:sp>
    </p:spTree>
    <p:extLst>
      <p:ext uri="{BB962C8B-B14F-4D97-AF65-F5344CB8AC3E}">
        <p14:creationId xmlns:p14="http://schemas.microsoft.com/office/powerpoint/2010/main" val="6880485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767DD-FA21-4AE2-7AFB-6EFA73E1E0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38BF57-5E45-3DCD-A6E0-435847CF0D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C5C0710-3366-F4F2-326B-197CF8B7DCED}"/>
              </a:ext>
            </a:extLst>
          </p:cNvPr>
          <p:cNvSpPr>
            <a:spLocks noGrp="1"/>
          </p:cNvSpPr>
          <p:nvPr>
            <p:ph type="body" idx="1"/>
          </p:nvPr>
        </p:nvSpPr>
        <p:spPr/>
        <p:txBody>
          <a:bodyPr/>
          <a:lstStyle/>
          <a:p>
            <a:pPr lvl="1"/>
            <a:r>
              <a:rPr lang="en-US" sz="1200" kern="1200" dirty="0">
                <a:solidFill>
                  <a:schemeClr val="tx1"/>
                </a:solidFill>
                <a:effectLst/>
                <a:latin typeface="+mn-lt"/>
                <a:ea typeface="+mn-ea"/>
                <a:cs typeface="+mn-cs"/>
              </a:rPr>
              <a:t>Identify Existing Architecture</a:t>
            </a:r>
          </a:p>
          <a:p>
            <a:pPr lvl="1"/>
            <a:r>
              <a:rPr lang="en-US" sz="1200" kern="1200" dirty="0">
                <a:solidFill>
                  <a:schemeClr val="tx1"/>
                </a:solidFill>
                <a:effectLst/>
                <a:latin typeface="+mn-lt"/>
                <a:ea typeface="+mn-ea"/>
                <a:cs typeface="+mn-cs"/>
              </a:rPr>
              <a:t>	To determine how best to move the database to a local or cloud-based server structure, the organization needs to identify how the database operates, what external tools or frameworks are used to operate the database, and how prospective cloud platforms support that information (Oracle, 2021). </a:t>
            </a:r>
          </a:p>
          <a:p>
            <a:pPr lvl="1"/>
            <a:r>
              <a:rPr lang="en-US" sz="1200" kern="1200" dirty="0">
                <a:solidFill>
                  <a:schemeClr val="tx1"/>
                </a:solidFill>
                <a:effectLst/>
                <a:latin typeface="+mn-lt"/>
                <a:ea typeface="+mn-ea"/>
                <a:cs typeface="+mn-cs"/>
              </a:rPr>
              <a:t>	If the database is sufficiently supported, it may be possible to move the entire database without changing schema or its toolset; otherwise, working with prospective cloud providers may serve to identify how to best move the database and how instanced it may need to be (Oracle, 2021).</a:t>
            </a:r>
          </a:p>
          <a:p>
            <a:pPr lvl="1"/>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Move the Database</a:t>
            </a:r>
          </a:p>
          <a:p>
            <a:pPr lvl="1"/>
            <a:r>
              <a:rPr lang="en-US" sz="1200" kern="1200" dirty="0">
                <a:solidFill>
                  <a:schemeClr val="tx1"/>
                </a:solidFill>
                <a:effectLst/>
                <a:latin typeface="+mn-lt"/>
                <a:ea typeface="+mn-ea"/>
                <a:cs typeface="+mn-cs"/>
              </a:rPr>
              <a:t>	After a cloud provider that meets the organization’s needs has been identified, the organization must then adjust the cloud platform to meet organizational needs to foster efficiency (AWS, n.d.). If a hybrid approach is selected, the organization may want to ensure that data is accessible as intended, adjusting and fine tuning the database until it functions in practice (AWS, n.d.). </a:t>
            </a:r>
          </a:p>
          <a:p>
            <a:pPr lvl="1"/>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Update the Database</a:t>
            </a:r>
          </a:p>
          <a:p>
            <a:pPr lvl="1"/>
            <a:r>
              <a:rPr lang="en-US" sz="1200" kern="1200" dirty="0">
                <a:solidFill>
                  <a:schemeClr val="tx1"/>
                </a:solidFill>
                <a:effectLst/>
                <a:latin typeface="+mn-lt"/>
                <a:ea typeface="+mn-ea"/>
                <a:cs typeface="+mn-cs"/>
              </a:rPr>
              <a:t>	After migration is complete, the organization may benefit greatly from taking full advantage of their cloud provider’s available tools (AWS, n.d.). Performance monitoring, analytical tools, data security tools and potential automation options may serve to improve the existing database’s performance (Oracle, 2021).</a:t>
            </a:r>
          </a:p>
        </p:txBody>
      </p:sp>
      <p:sp>
        <p:nvSpPr>
          <p:cNvPr id="4" name="Slide Number Placeholder 3">
            <a:extLst>
              <a:ext uri="{FF2B5EF4-FFF2-40B4-BE49-F238E27FC236}">
                <a16:creationId xmlns:a16="http://schemas.microsoft.com/office/drawing/2014/main" id="{EC3BF80F-2FB6-481A-4C5D-11D4FC87C7B0}"/>
              </a:ext>
            </a:extLst>
          </p:cNvPr>
          <p:cNvSpPr>
            <a:spLocks noGrp="1"/>
          </p:cNvSpPr>
          <p:nvPr>
            <p:ph type="sldNum" sz="quarter" idx="5"/>
          </p:nvPr>
        </p:nvSpPr>
        <p:spPr/>
        <p:txBody>
          <a:bodyPr/>
          <a:lstStyle/>
          <a:p>
            <a:fld id="{CC5DA344-5FA2-43F7-9D95-CA56C82B080A}" type="slidenum">
              <a:rPr lang="en-US" smtClean="0"/>
              <a:t>15</a:t>
            </a:fld>
            <a:endParaRPr lang="en-US"/>
          </a:p>
        </p:txBody>
      </p:sp>
    </p:spTree>
    <p:extLst>
      <p:ext uri="{BB962C8B-B14F-4D97-AF65-F5344CB8AC3E}">
        <p14:creationId xmlns:p14="http://schemas.microsoft.com/office/powerpoint/2010/main" val="11493530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EACBD-57C7-3A30-F8FE-11F56C2CAD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55E86E-9E41-08A1-768A-BBE0D2024B8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9E60CC1-1D4A-A6A5-8EF2-B0AC8A45A6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9AF8E8-9B04-5BA3-5AB2-A7F0D0491F90}"/>
              </a:ext>
            </a:extLst>
          </p:cNvPr>
          <p:cNvSpPr>
            <a:spLocks noGrp="1"/>
          </p:cNvSpPr>
          <p:nvPr>
            <p:ph type="sldNum" sz="quarter" idx="5"/>
          </p:nvPr>
        </p:nvSpPr>
        <p:spPr/>
        <p:txBody>
          <a:bodyPr/>
          <a:lstStyle/>
          <a:p>
            <a:fld id="{CC5DA344-5FA2-43F7-9D95-CA56C82B080A}" type="slidenum">
              <a:rPr lang="en-US" smtClean="0"/>
              <a:t>16</a:t>
            </a:fld>
            <a:endParaRPr lang="en-US"/>
          </a:p>
        </p:txBody>
      </p:sp>
    </p:spTree>
    <p:extLst>
      <p:ext uri="{BB962C8B-B14F-4D97-AF65-F5344CB8AC3E}">
        <p14:creationId xmlns:p14="http://schemas.microsoft.com/office/powerpoint/2010/main" val="39168192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A7029-498D-D71E-8771-908FC39544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6AF5AD-24E9-7D27-C15D-A95BD5E3E0B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17D0CE0-976F-F7E7-51B5-6A39736DD9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E4ECA9-431D-ABAF-7150-C3DCEC820D72}"/>
              </a:ext>
            </a:extLst>
          </p:cNvPr>
          <p:cNvSpPr>
            <a:spLocks noGrp="1"/>
          </p:cNvSpPr>
          <p:nvPr>
            <p:ph type="sldNum" sz="quarter" idx="5"/>
          </p:nvPr>
        </p:nvSpPr>
        <p:spPr/>
        <p:txBody>
          <a:bodyPr/>
          <a:lstStyle/>
          <a:p>
            <a:fld id="{CC5DA344-5FA2-43F7-9D95-CA56C82B080A}" type="slidenum">
              <a:rPr lang="en-US" smtClean="0"/>
              <a:t>17</a:t>
            </a:fld>
            <a:endParaRPr lang="en-US"/>
          </a:p>
        </p:txBody>
      </p:sp>
    </p:spTree>
    <p:extLst>
      <p:ext uri="{BB962C8B-B14F-4D97-AF65-F5344CB8AC3E}">
        <p14:creationId xmlns:p14="http://schemas.microsoft.com/office/powerpoint/2010/main" val="3833116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5AB93-E5E0-7207-2424-B55DF2DA60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8ADB2B-BB5F-185C-6D7C-B2FCADF4DCD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F7ABDC7-72C9-183E-3C62-B02DC1A55B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2C3296-83A3-822F-01AC-7E8E438421C9}"/>
              </a:ext>
            </a:extLst>
          </p:cNvPr>
          <p:cNvSpPr>
            <a:spLocks noGrp="1"/>
          </p:cNvSpPr>
          <p:nvPr>
            <p:ph type="sldNum" sz="quarter" idx="5"/>
          </p:nvPr>
        </p:nvSpPr>
        <p:spPr/>
        <p:txBody>
          <a:bodyPr/>
          <a:lstStyle/>
          <a:p>
            <a:fld id="{CC5DA344-5FA2-43F7-9D95-CA56C82B080A}" type="slidenum">
              <a:rPr lang="en-US" smtClean="0"/>
              <a:t>18</a:t>
            </a:fld>
            <a:endParaRPr lang="en-US"/>
          </a:p>
        </p:txBody>
      </p:sp>
    </p:spTree>
    <p:extLst>
      <p:ext uri="{BB962C8B-B14F-4D97-AF65-F5344CB8AC3E}">
        <p14:creationId xmlns:p14="http://schemas.microsoft.com/office/powerpoint/2010/main" val="11712628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10A62-17BA-F1C2-CFFD-F7335570A4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8A5FA1-D2F6-800B-42C8-4051DA65F50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C689534-C4DC-E56D-2CC0-3595383216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A99817-803D-8047-C337-DDDFD65F98CD}"/>
              </a:ext>
            </a:extLst>
          </p:cNvPr>
          <p:cNvSpPr>
            <a:spLocks noGrp="1"/>
          </p:cNvSpPr>
          <p:nvPr>
            <p:ph type="sldNum" sz="quarter" idx="5"/>
          </p:nvPr>
        </p:nvSpPr>
        <p:spPr/>
        <p:txBody>
          <a:bodyPr/>
          <a:lstStyle/>
          <a:p>
            <a:fld id="{CC5DA344-5FA2-43F7-9D95-CA56C82B080A}" type="slidenum">
              <a:rPr lang="en-US" smtClean="0"/>
              <a:t>19</a:t>
            </a:fld>
            <a:endParaRPr lang="en-US"/>
          </a:p>
        </p:txBody>
      </p:sp>
    </p:spTree>
    <p:extLst>
      <p:ext uri="{BB962C8B-B14F-4D97-AF65-F5344CB8AC3E}">
        <p14:creationId xmlns:p14="http://schemas.microsoft.com/office/powerpoint/2010/main" val="6163762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A1E1C-63D5-1412-CDA1-01F790FA9F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13383D-90D6-17D7-CA77-AD15B04D6AE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1BBAD8F-4343-5FFC-A6AC-A0C8BB22B4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9155EF-397E-EA5E-712E-D63966803C1C}"/>
              </a:ext>
            </a:extLst>
          </p:cNvPr>
          <p:cNvSpPr>
            <a:spLocks noGrp="1"/>
          </p:cNvSpPr>
          <p:nvPr>
            <p:ph type="sldNum" sz="quarter" idx="5"/>
          </p:nvPr>
        </p:nvSpPr>
        <p:spPr/>
        <p:txBody>
          <a:bodyPr/>
          <a:lstStyle/>
          <a:p>
            <a:fld id="{CC5DA344-5FA2-43F7-9D95-CA56C82B080A}" type="slidenum">
              <a:rPr lang="en-US" smtClean="0"/>
              <a:t>20</a:t>
            </a:fld>
            <a:endParaRPr lang="en-US"/>
          </a:p>
        </p:txBody>
      </p:sp>
    </p:spTree>
    <p:extLst>
      <p:ext uri="{BB962C8B-B14F-4D97-AF65-F5344CB8AC3E}">
        <p14:creationId xmlns:p14="http://schemas.microsoft.com/office/powerpoint/2010/main" val="26828120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D718B-B9E2-5239-9328-CE7E4CAFED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83ED0-9F48-BFAC-EC79-8580235EA80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6D9129C-064F-4C58-20AB-7A18899D83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884232-66DE-0FAB-FB5D-6C5AFACDCA1B}"/>
              </a:ext>
            </a:extLst>
          </p:cNvPr>
          <p:cNvSpPr>
            <a:spLocks noGrp="1"/>
          </p:cNvSpPr>
          <p:nvPr>
            <p:ph type="sldNum" sz="quarter" idx="5"/>
          </p:nvPr>
        </p:nvSpPr>
        <p:spPr/>
        <p:txBody>
          <a:bodyPr/>
          <a:lstStyle/>
          <a:p>
            <a:fld id="{CC5DA344-5FA2-43F7-9D95-CA56C82B080A}" type="slidenum">
              <a:rPr lang="en-US" smtClean="0"/>
              <a:t>21</a:t>
            </a:fld>
            <a:endParaRPr lang="en-US"/>
          </a:p>
        </p:txBody>
      </p:sp>
    </p:spTree>
    <p:extLst>
      <p:ext uri="{BB962C8B-B14F-4D97-AF65-F5344CB8AC3E}">
        <p14:creationId xmlns:p14="http://schemas.microsoft.com/office/powerpoint/2010/main" val="20015347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E07A2-2264-FF7A-BA5F-27E7801C6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86765-8665-9B0B-FA84-2C55CA8A9C4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B405054-1F2D-70CF-29C7-949754EC92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886B8C-812E-D6AE-F24F-ED33E27CF6EC}"/>
              </a:ext>
            </a:extLst>
          </p:cNvPr>
          <p:cNvSpPr>
            <a:spLocks noGrp="1"/>
          </p:cNvSpPr>
          <p:nvPr>
            <p:ph type="sldNum" sz="quarter" idx="5"/>
          </p:nvPr>
        </p:nvSpPr>
        <p:spPr/>
        <p:txBody>
          <a:bodyPr/>
          <a:lstStyle/>
          <a:p>
            <a:fld id="{CC5DA344-5FA2-43F7-9D95-CA56C82B080A}" type="slidenum">
              <a:rPr lang="en-US" smtClean="0"/>
              <a:t>22</a:t>
            </a:fld>
            <a:endParaRPr lang="en-US"/>
          </a:p>
        </p:txBody>
      </p:sp>
    </p:spTree>
    <p:extLst>
      <p:ext uri="{BB962C8B-B14F-4D97-AF65-F5344CB8AC3E}">
        <p14:creationId xmlns:p14="http://schemas.microsoft.com/office/powerpoint/2010/main" val="40865455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6254B-7D26-9512-4097-706FE46B2E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E89B4A-0119-87EA-946D-16F0B7B9CDB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DF97136-B52A-7302-01A9-68A75A7AEE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BE38E0-52EE-C15D-8449-95AE1CA3D37D}"/>
              </a:ext>
            </a:extLst>
          </p:cNvPr>
          <p:cNvSpPr>
            <a:spLocks noGrp="1"/>
          </p:cNvSpPr>
          <p:nvPr>
            <p:ph type="sldNum" sz="quarter" idx="5"/>
          </p:nvPr>
        </p:nvSpPr>
        <p:spPr/>
        <p:txBody>
          <a:bodyPr/>
          <a:lstStyle/>
          <a:p>
            <a:fld id="{CC5DA344-5FA2-43F7-9D95-CA56C82B080A}" type="slidenum">
              <a:rPr lang="en-US" smtClean="0"/>
              <a:t>23</a:t>
            </a:fld>
            <a:endParaRPr lang="en-US"/>
          </a:p>
        </p:txBody>
      </p:sp>
    </p:spTree>
    <p:extLst>
      <p:ext uri="{BB962C8B-B14F-4D97-AF65-F5344CB8AC3E}">
        <p14:creationId xmlns:p14="http://schemas.microsoft.com/office/powerpoint/2010/main" val="31528718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444B3-B64A-8310-7A1D-0B129FEC44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B12281-0055-49B3-0D8C-4923AAE6179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A101416-4A88-29A6-7E11-E0D73B609B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7F91ED-E65F-F2A6-DC10-EAFC55A071CD}"/>
              </a:ext>
            </a:extLst>
          </p:cNvPr>
          <p:cNvSpPr>
            <a:spLocks noGrp="1"/>
          </p:cNvSpPr>
          <p:nvPr>
            <p:ph type="sldNum" sz="quarter" idx="5"/>
          </p:nvPr>
        </p:nvSpPr>
        <p:spPr/>
        <p:txBody>
          <a:bodyPr/>
          <a:lstStyle/>
          <a:p>
            <a:fld id="{CC5DA344-5FA2-43F7-9D95-CA56C82B080A}" type="slidenum">
              <a:rPr lang="en-US" smtClean="0"/>
              <a:t>24</a:t>
            </a:fld>
            <a:endParaRPr lang="en-US"/>
          </a:p>
        </p:txBody>
      </p:sp>
    </p:spTree>
    <p:extLst>
      <p:ext uri="{BB962C8B-B14F-4D97-AF65-F5344CB8AC3E}">
        <p14:creationId xmlns:p14="http://schemas.microsoft.com/office/powerpoint/2010/main" val="23151198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25</a:t>
            </a:fld>
            <a:endParaRPr lang="en-US"/>
          </a:p>
        </p:txBody>
      </p:sp>
    </p:spTree>
    <p:extLst>
      <p:ext uri="{BB962C8B-B14F-4D97-AF65-F5344CB8AC3E}">
        <p14:creationId xmlns:p14="http://schemas.microsoft.com/office/powerpoint/2010/main" val="2974415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D6D8061D-18C3-4F4F-85EF-561633F58754}" type="datetimeFigureOut">
              <a:rPr lang="en-US" smtClean="0"/>
              <a:t>4/5/2026</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41156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D6D8061D-18C3-4F4F-85EF-561633F58754}" type="datetimeFigureOut">
              <a:rPr lang="en-US" smtClean="0"/>
              <a:t>4/5/2026</a:t>
            </a:fld>
            <a:endParaRPr lang="en-US"/>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67895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D6D8061D-18C3-4F4F-85EF-561633F58754}" type="datetimeFigureOut">
              <a:rPr lang="en-US" smtClean="0"/>
              <a:t>4/5/2026</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535638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D6D8061D-18C3-4F4F-85EF-561633F58754}" type="datetimeFigureOut">
              <a:rPr lang="en-US" smtClean="0"/>
              <a:t>4/5/2026</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08121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D6D8061D-18C3-4F4F-85EF-561633F58754}" type="datetimeFigureOut">
              <a:rPr lang="en-US" smtClean="0"/>
              <a:t>4/5/2026</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877208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D6D8061D-18C3-4F4F-85EF-561633F58754}" type="datetimeFigureOut">
              <a:rPr lang="en-US" smtClean="0"/>
              <a:t>4/5/2026</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049826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D6D8061D-18C3-4F4F-85EF-561633F58754}" type="datetimeFigureOut">
              <a:rPr lang="en-US" smtClean="0"/>
              <a:t>4/5/2026</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762831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D6D8061D-18C3-4F4F-85EF-561633F58754}" type="datetimeFigureOut">
              <a:rPr lang="en-US" smtClean="0"/>
              <a:t>4/5/2026</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719983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D6D8061D-18C3-4F4F-85EF-561633F58754}" type="datetimeFigureOut">
              <a:rPr lang="en-US" smtClean="0"/>
              <a:t>4/5/2026</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979663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D6D8061D-18C3-4F4F-85EF-561633F58754}" type="datetimeFigureOut">
              <a:rPr lang="en-US" smtClean="0"/>
              <a:t>4/5/2026</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61895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D6D8061D-18C3-4F4F-85EF-561633F58754}" type="datetimeFigureOut">
              <a:rPr lang="en-US" smtClean="0"/>
              <a:t>4/5/2026</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7221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4AAEB19-4B49-2801-9B15-7682CDF04C04}"/>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23C3EC-28B3-4644-8BE5-3288734B463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857468" y="486137"/>
            <a:ext cx="5427584" cy="3599727"/>
          </a:xfrm>
        </p:spPr>
        <p:txBody>
          <a:bodyPr anchor="b" anchorCtr="0">
            <a:noAutofit/>
          </a:bodyPr>
          <a:lstStyle>
            <a:lvl1pPr algn="l">
              <a:defRPr sz="4400" cap="all" baseline="0">
                <a:solidFill>
                  <a:schemeClr val="accent1"/>
                </a:solidFill>
              </a:defRPr>
            </a:lvl1pPr>
          </a:lstStyle>
          <a:p>
            <a:r>
              <a:rPr lang="en-US" dirty="0"/>
              <a:t>Click to add title</a:t>
            </a:r>
          </a:p>
        </p:txBody>
      </p:sp>
      <p:sp>
        <p:nvSpPr>
          <p:cNvPr id="13" name="Picture Placeholder 12">
            <a:extLst>
              <a:ext uri="{FF2B5EF4-FFF2-40B4-BE49-F238E27FC236}">
                <a16:creationId xmlns:a16="http://schemas.microsoft.com/office/drawing/2014/main" id="{B64FCBF4-90E6-FFAA-143D-3A01CE52569B}"/>
              </a:ext>
            </a:extLst>
          </p:cNvPr>
          <p:cNvSpPr>
            <a:spLocks noGrp="1"/>
          </p:cNvSpPr>
          <p:nvPr>
            <p:ph type="pic" sz="quarter" idx="10"/>
          </p:nvPr>
        </p:nvSpPr>
        <p:spPr>
          <a:xfrm>
            <a:off x="5624774" y="-6713"/>
            <a:ext cx="6578801" cy="6894576"/>
          </a:xfrm>
          <a:custGeom>
            <a:avLst/>
            <a:gdLst>
              <a:gd name="connsiteX0" fmla="*/ 0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0 w 6613525"/>
              <a:gd name="connsiteY4" fmla="*/ 0 h 6858000"/>
              <a:gd name="connsiteX0" fmla="*/ 1875099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1875099 w 6613525"/>
              <a:gd name="connsiteY4" fmla="*/ 0 h 6858000"/>
              <a:gd name="connsiteX0" fmla="*/ 1840375 w 6578801"/>
              <a:gd name="connsiteY0" fmla="*/ 0 h 6869575"/>
              <a:gd name="connsiteX1" fmla="*/ 6578801 w 6578801"/>
              <a:gd name="connsiteY1" fmla="*/ 0 h 6869575"/>
              <a:gd name="connsiteX2" fmla="*/ 6578801 w 6578801"/>
              <a:gd name="connsiteY2" fmla="*/ 6858000 h 6869575"/>
              <a:gd name="connsiteX3" fmla="*/ 0 w 6578801"/>
              <a:gd name="connsiteY3" fmla="*/ 6869575 h 6869575"/>
              <a:gd name="connsiteX4" fmla="*/ 1840375 w 6578801"/>
              <a:gd name="connsiteY4" fmla="*/ 0 h 686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8801" h="6869575">
                <a:moveTo>
                  <a:pt x="1840375" y="0"/>
                </a:moveTo>
                <a:lnTo>
                  <a:pt x="6578801" y="0"/>
                </a:lnTo>
                <a:lnTo>
                  <a:pt x="6578801" y="6858000"/>
                </a:lnTo>
                <a:lnTo>
                  <a:pt x="0" y="6869575"/>
                </a:lnTo>
                <a:lnTo>
                  <a:pt x="1840375" y="0"/>
                </a:lnTo>
                <a:close/>
              </a:path>
            </a:pathLst>
          </a:custGeom>
        </p:spPr>
        <p:txBody>
          <a:bodyPr tIns="274320" rIns="274320">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10072401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6CBD635-4863-B127-5668-D2C7DA8CDE92}"/>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629720-DD91-8012-686D-AABA439870ED}"/>
              </a:ext>
              <a:ext uri="{C183D7F6-B498-43B3-948B-1728B52AA6E4}">
                <adec:decorative xmlns:adec="http://schemas.microsoft.com/office/drawing/2017/decorative" val="1"/>
              </a:ext>
            </a:extLst>
          </p:cNvPr>
          <p:cNvCxnSpPr>
            <a:cxnSpLocks/>
          </p:cNvCxnSpPr>
          <p:nvPr userDrawn="1"/>
        </p:nvCxnSpPr>
        <p:spPr>
          <a:xfrm flipH="1">
            <a:off x="10911820" y="0"/>
            <a:ext cx="913577" cy="68580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3970117" y="185195"/>
            <a:ext cx="6930838" cy="1505493"/>
          </a:xfrm>
        </p:spPr>
        <p:txBody>
          <a:bodyPr anchor="b" anchorCtr="0">
            <a:no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1FB27827-7491-B1C2-D9C5-975A9FF66EC1}"/>
              </a:ext>
            </a:extLst>
          </p:cNvPr>
          <p:cNvSpPr>
            <a:spLocks noGrp="1"/>
          </p:cNvSpPr>
          <p:nvPr>
            <p:ph type="pic" sz="quarter" idx="10"/>
          </p:nvPr>
        </p:nvSpPr>
        <p:spPr>
          <a:xfrm>
            <a:off x="-18788" y="-22860"/>
            <a:ext cx="3291840" cy="6903720"/>
          </a:xfrm>
        </p:spPr>
        <p:txBody>
          <a:bodyPr lIns="182880" tIns="274320" rIns="182880">
            <a:normAutofit/>
          </a:bodyPr>
          <a:lstStyle>
            <a:lvl1pPr marL="0" indent="0" algn="ctr">
              <a:buNone/>
              <a:defRPr sz="2000"/>
            </a:lvl1pPr>
          </a:lstStyle>
          <a:p>
            <a:r>
              <a:rPr lang="en-US"/>
              <a:t>Click icon to add picture</a:t>
            </a:r>
            <a:endParaRPr lang="en-US" dirty="0"/>
          </a:p>
        </p:txBody>
      </p:sp>
      <p:sp>
        <p:nvSpPr>
          <p:cNvPr id="11" name="Content Placeholder 3">
            <a:extLst>
              <a:ext uri="{FF2B5EF4-FFF2-40B4-BE49-F238E27FC236}">
                <a16:creationId xmlns:a16="http://schemas.microsoft.com/office/drawing/2014/main" id="{7D4D4555-A25D-09B6-36AF-5977189F2DDE}"/>
              </a:ext>
            </a:extLst>
          </p:cNvPr>
          <p:cNvSpPr>
            <a:spLocks noGrp="1"/>
          </p:cNvSpPr>
          <p:nvPr>
            <p:ph sz="half" idx="2" hasCustomPrompt="1"/>
          </p:nvPr>
        </p:nvSpPr>
        <p:spPr>
          <a:xfrm>
            <a:off x="3970116" y="2022395"/>
            <a:ext cx="6941703" cy="4297680"/>
          </a:xfrm>
        </p:spPr>
        <p:txBody>
          <a:bodyPr>
            <a:normAutofit/>
          </a:bodyPr>
          <a:lstStyle>
            <a:lvl1pPr marL="228600" indent="-228600">
              <a:spcBef>
                <a:spcPts val="1000"/>
              </a:spcBef>
              <a:spcAft>
                <a:spcPts val="1500"/>
              </a:spcAft>
              <a:buFont typeface="Arial" panose="020B0604020202020204" pitchFamily="34" charset="0"/>
              <a:buChar char="•"/>
              <a:defRPr sz="1800"/>
            </a:lvl1pPr>
            <a:lvl2pPr>
              <a:spcBef>
                <a:spcPts val="1000"/>
              </a:spcBef>
              <a:spcAft>
                <a:spcPts val="1500"/>
              </a:spcAft>
              <a:defRPr sz="1800"/>
            </a:lvl2pPr>
            <a:lvl3pPr>
              <a:spcBef>
                <a:spcPts val="1000"/>
              </a:spcBef>
              <a:spcAft>
                <a:spcPts val="1500"/>
              </a:spcAft>
              <a:defRPr sz="1800"/>
            </a:lvl3pPr>
            <a:lvl4pPr>
              <a:spcBef>
                <a:spcPts val="1000"/>
              </a:spcBef>
              <a:spcAft>
                <a:spcPts val="1500"/>
              </a:spcAft>
              <a:defRPr sz="1800"/>
            </a:lvl4pPr>
            <a:lvl5pPr>
              <a:spcBef>
                <a:spcPts val="1000"/>
              </a:spcBef>
              <a:spcAft>
                <a:spcPts val="1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923740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9E49FCE-658C-FF5A-6405-3D10F1AC1B06}"/>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903C516-D418-5E3E-1E4E-1DF8464338F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7BF5B15-0E8A-A82C-6E9C-FCF3FBAAD468}"/>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54B33CA-9490-C8E1-FE4F-06367AF2921F}"/>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586824F-3198-FE44-5A4A-70312048DAF9}"/>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058CD71-6E97-B6A9-11B6-867ED408DEE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E9FDAA6-BDE8-D6C3-17CD-F87BFB54F54A}"/>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7" name="Content Placeholder 3">
            <a:extLst>
              <a:ext uri="{FF2B5EF4-FFF2-40B4-BE49-F238E27FC236}">
                <a16:creationId xmlns:a16="http://schemas.microsoft.com/office/drawing/2014/main" id="{42A0738D-E9A9-14B7-4739-62E402B0C2DF}"/>
              </a:ext>
            </a:extLst>
          </p:cNvPr>
          <p:cNvSpPr>
            <a:spLocks noGrp="1"/>
          </p:cNvSpPr>
          <p:nvPr>
            <p:ph sz="half" idx="14" hasCustomPrompt="1"/>
          </p:nvPr>
        </p:nvSpPr>
        <p:spPr>
          <a:xfrm>
            <a:off x="834961" y="2032663"/>
            <a:ext cx="4463005" cy="4067492"/>
          </a:xfrm>
        </p:spPr>
        <p:txBody>
          <a:bodyPr>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A766D4CB-8BCE-C6EE-EF57-A8A819EBD366}"/>
              </a:ext>
            </a:extLst>
          </p:cNvPr>
          <p:cNvSpPr>
            <a:spLocks noGrp="1"/>
          </p:cNvSpPr>
          <p:nvPr>
            <p:ph sz="half" idx="13" hasCustomPrompt="1"/>
          </p:nvPr>
        </p:nvSpPr>
        <p:spPr>
          <a:xfrm>
            <a:off x="6141720" y="2032663"/>
            <a:ext cx="5212080" cy="4067492"/>
          </a:xfrm>
        </p:spPr>
        <p:txBody>
          <a:bodyPr>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4/5/2026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8667566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DD9208B-0FD2-A7E3-5202-0F18392AE4F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04010E2-9C6F-C582-1E3A-F5D43D0FFBBC}"/>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3D2B8AF-94DE-C211-EAE7-0971C111BEAD}"/>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47A2AC-F284-077E-9A14-EB7D1DE6274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E91F1F-5151-2442-2B89-CE0AB1178507}"/>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FBD82AC-3C5B-819E-E0FF-157D74B840BC}"/>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F299648-2E6E-FA0D-85E4-8884BE34A00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7" name="Content Placeholder 3">
            <a:extLst>
              <a:ext uri="{FF2B5EF4-FFF2-40B4-BE49-F238E27FC236}">
                <a16:creationId xmlns:a16="http://schemas.microsoft.com/office/drawing/2014/main" id="{07BD0263-5D42-E696-F170-1F9CF5FF2A74}"/>
              </a:ext>
            </a:extLst>
          </p:cNvPr>
          <p:cNvSpPr>
            <a:spLocks noGrp="1"/>
          </p:cNvSpPr>
          <p:nvPr>
            <p:ph sz="half" idx="15" hasCustomPrompt="1"/>
          </p:nvPr>
        </p:nvSpPr>
        <p:spPr>
          <a:xfrm>
            <a:off x="838199" y="2078963"/>
            <a:ext cx="3435628" cy="4067492"/>
          </a:xfrm>
        </p:spPr>
        <p:txBody>
          <a:bodyPr>
            <a:normAutofit/>
          </a:bodyPr>
          <a:lstStyle>
            <a:lvl1pPr marL="457200" indent="-457200">
              <a:spcBef>
                <a:spcPts val="1000"/>
              </a:spcBef>
              <a:spcAft>
                <a:spcPts val="500"/>
              </a:spcAft>
              <a:buFont typeface="+mj-lt"/>
              <a:buAutoNum type="arabicPeriod"/>
              <a:defRPr sz="1800"/>
            </a:lvl1pPr>
            <a:lvl2pPr marL="914400" indent="-457200">
              <a:spcBef>
                <a:spcPts val="1000"/>
              </a:spcBef>
              <a:spcAft>
                <a:spcPts val="500"/>
              </a:spcAft>
              <a:buFont typeface="+mj-lt"/>
              <a:buAutoNum type="alphaLcPeriod"/>
              <a:defRPr sz="1800"/>
            </a:lvl2pPr>
            <a:lvl3pPr marL="1371600" indent="-457200">
              <a:spcBef>
                <a:spcPts val="1000"/>
              </a:spcBef>
              <a:spcAft>
                <a:spcPts val="500"/>
              </a:spcAft>
              <a:buFont typeface="+mj-lt"/>
              <a:buAutoNum type="arabicParenR"/>
              <a:defRPr sz="1800"/>
            </a:lvl3pPr>
            <a:lvl4pPr marL="1828800" indent="-457200">
              <a:spcBef>
                <a:spcPts val="1000"/>
              </a:spcBef>
              <a:spcAft>
                <a:spcPts val="500"/>
              </a:spcAft>
              <a:buFont typeface="+mj-lt"/>
              <a:buAutoNum type="alphaLcParenR"/>
              <a:defRPr sz="1800"/>
            </a:lvl4pPr>
            <a:lvl5pPr marL="2228850" indent="-457200">
              <a:spcBef>
                <a:spcPts val="1000"/>
              </a:spcBef>
              <a:spcAft>
                <a:spcPts val="500"/>
              </a:spcAft>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1BEE7174-135F-6F9F-11B9-3C3F2F9CDEAA}"/>
              </a:ext>
            </a:extLst>
          </p:cNvPr>
          <p:cNvSpPr>
            <a:spLocks noGrp="1"/>
          </p:cNvSpPr>
          <p:nvPr>
            <p:ph sz="half" idx="14" hasCustomPrompt="1"/>
          </p:nvPr>
        </p:nvSpPr>
        <p:spPr>
          <a:xfrm>
            <a:off x="4965539" y="2087315"/>
            <a:ext cx="6007261" cy="4067492"/>
          </a:xfrm>
        </p:spPr>
        <p:txBody>
          <a:bodyPr>
            <a:normAutofit/>
          </a:bodyPr>
          <a:lstStyle>
            <a:lvl1pPr marL="0" indent="0">
              <a:spcBef>
                <a:spcPts val="1000"/>
              </a:spcBef>
              <a:spcAft>
                <a:spcPts val="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4/5/2026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520464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ntent + picture ">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00B3A65-BB60-F2B4-4CF4-19A7C53F188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F1DB8D5-B954-BFC9-C8D8-F0491CCBE29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507D69F-27D7-2C68-A17D-3F1399C8BE71}"/>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199" y="365125"/>
            <a:ext cx="6645965" cy="1325563"/>
          </a:xfrm>
        </p:spPr>
        <p:txBody>
          <a:bodyPr anchor="b" anchorCtr="0">
            <a:no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1" y="2055813"/>
            <a:ext cx="5781261" cy="4067492"/>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7566991" y="-22860"/>
            <a:ext cx="4625008" cy="6903720"/>
          </a:xfrm>
        </p:spPr>
        <p:txBody>
          <a:bodyPr tIns="274320">
            <a:normAutofit/>
          </a:bodyPr>
          <a:lstStyle>
            <a:lvl1pPr marL="0" indent="0" algn="ctr">
              <a:buNone/>
              <a:defRPr sz="2000"/>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4/5/2026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6568680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wo Content 3">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949C8ABD-000F-7A94-A7B0-9589F4FEFD54}"/>
              </a:ext>
              <a:ext uri="{C183D7F6-B498-43B3-948B-1728B52AA6E4}">
                <adec:decorative xmlns:adec="http://schemas.microsoft.com/office/drawing/2017/decorative" val="1"/>
              </a:ext>
            </a:extLst>
          </p:cNvPr>
          <p:cNvCxnSpPr>
            <a:cxnSpLocks/>
          </p:cNvCxnSpPr>
          <p:nvPr userDrawn="1"/>
        </p:nvCxnSpPr>
        <p:spPr>
          <a:xfrm flipH="1">
            <a:off x="0" y="11575"/>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DC3A554-E5A9-B3CB-913D-45DBFBA79B40}"/>
              </a:ext>
              <a:ext uri="{C183D7F6-B498-43B3-948B-1728B52AA6E4}">
                <adec:decorative xmlns:adec="http://schemas.microsoft.com/office/drawing/2017/decorative" val="1"/>
              </a:ext>
            </a:extLst>
          </p:cNvPr>
          <p:cNvCxnSpPr>
            <a:cxnSpLocks/>
          </p:cNvCxnSpPr>
          <p:nvPr userDrawn="1"/>
        </p:nvCxnSpPr>
        <p:spPr>
          <a:xfrm flipH="1">
            <a:off x="0" y="11575"/>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E3A8DF3-F55A-2494-C55D-8FB94BBC6A49}"/>
              </a:ext>
              <a:ext uri="{C183D7F6-B498-43B3-948B-1728B52AA6E4}">
                <adec:decorative xmlns:adec="http://schemas.microsoft.com/office/drawing/2017/decorative" val="1"/>
              </a:ext>
            </a:extLst>
          </p:cNvPr>
          <p:cNvCxnSpPr>
            <a:cxnSpLocks/>
          </p:cNvCxnSpPr>
          <p:nvPr userDrawn="1"/>
        </p:nvCxnSpPr>
        <p:spPr>
          <a:xfrm flipH="1" flipV="1">
            <a:off x="-42863" y="5802775"/>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9DC86E-6F8A-B036-5CB2-AA8A79837F35}"/>
              </a:ext>
              <a:ext uri="{C183D7F6-B498-43B3-948B-1728B52AA6E4}">
                <adec:decorative xmlns:adec="http://schemas.microsoft.com/office/drawing/2017/decorative" val="1"/>
              </a:ext>
            </a:extLst>
          </p:cNvPr>
          <p:cNvCxnSpPr>
            <a:cxnSpLocks/>
          </p:cNvCxnSpPr>
          <p:nvPr userDrawn="1"/>
        </p:nvCxnSpPr>
        <p:spPr>
          <a:xfrm flipH="1">
            <a:off x="8462964" y="5859925"/>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B9E0C03-C633-9356-4E28-678BAB7AE02E}"/>
              </a:ext>
              <a:ext uri="{C183D7F6-B498-43B3-948B-1728B52AA6E4}">
                <adec:decorative xmlns:adec="http://schemas.microsoft.com/office/drawing/2017/decorative" val="1"/>
              </a:ext>
            </a:extLst>
          </p:cNvPr>
          <p:cNvCxnSpPr>
            <a:cxnSpLocks/>
          </p:cNvCxnSpPr>
          <p:nvPr userDrawn="1"/>
        </p:nvCxnSpPr>
        <p:spPr>
          <a:xfrm flipH="1">
            <a:off x="11543158" y="1659400"/>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0C8A4F7-6C4C-719B-298F-3B81223D178B}"/>
              </a:ext>
              <a:ext uri="{C183D7F6-B498-43B3-948B-1728B52AA6E4}">
                <adec:decorative xmlns:adec="http://schemas.microsoft.com/office/drawing/2017/decorative" val="1"/>
              </a:ext>
            </a:extLst>
          </p:cNvPr>
          <p:cNvCxnSpPr>
            <a:cxnSpLocks/>
          </p:cNvCxnSpPr>
          <p:nvPr userDrawn="1"/>
        </p:nvCxnSpPr>
        <p:spPr>
          <a:xfrm flipH="1" flipV="1">
            <a:off x="10781554" y="11575"/>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E7E5D8B-D6BC-19AE-C0C9-249A5561700F}"/>
              </a:ext>
              <a:ext uri="{C183D7F6-B498-43B3-948B-1728B52AA6E4}">
                <adec:decorative xmlns:adec="http://schemas.microsoft.com/office/drawing/2017/decorative" val="1"/>
              </a:ext>
            </a:extLst>
          </p:cNvPr>
          <p:cNvCxnSpPr>
            <a:cxnSpLocks/>
          </p:cNvCxnSpPr>
          <p:nvPr userDrawn="1"/>
        </p:nvCxnSpPr>
        <p:spPr>
          <a:xfrm flipH="1" flipV="1">
            <a:off x="6529388" y="6812"/>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5" name="Content Placeholder 3">
            <a:extLst>
              <a:ext uri="{FF2B5EF4-FFF2-40B4-BE49-F238E27FC236}">
                <a16:creationId xmlns:a16="http://schemas.microsoft.com/office/drawing/2014/main" id="{7A6C5266-7ECA-B150-2C0F-8670F43AC82D}"/>
              </a:ext>
            </a:extLst>
          </p:cNvPr>
          <p:cNvSpPr>
            <a:spLocks noGrp="1"/>
          </p:cNvSpPr>
          <p:nvPr>
            <p:ph sz="half" idx="14" hasCustomPrompt="1"/>
          </p:nvPr>
        </p:nvSpPr>
        <p:spPr>
          <a:xfrm>
            <a:off x="838200" y="1987669"/>
            <a:ext cx="6974711" cy="4297679"/>
          </a:xfrm>
        </p:spPr>
        <p:txBody>
          <a:bodyPr>
            <a:normAutofit/>
          </a:bodyPr>
          <a:lstStyle>
            <a:lvl1pPr marL="0" indent="0">
              <a:spcBef>
                <a:spcPts val="1000"/>
              </a:spcBef>
              <a:spcAft>
                <a:spcPts val="0"/>
              </a:spcAft>
              <a:buNone/>
              <a:defRPr sz="1800"/>
            </a:lvl1pPr>
            <a:lvl2pPr>
              <a:spcBef>
                <a:spcPts val="1000"/>
              </a:spcBef>
              <a:spcAft>
                <a:spcPts val="500"/>
              </a:spcAft>
              <a:defRPr sz="1800"/>
            </a:lvl2pPr>
            <a:lvl3pPr>
              <a:spcBef>
                <a:spcPts val="1000"/>
              </a:spcBef>
              <a:spcAft>
                <a:spcPts val="500"/>
              </a:spcAft>
              <a:defRPr sz="1800"/>
            </a:lvl3pPr>
            <a:lvl4pPr>
              <a:spcBef>
                <a:spcPts val="1000"/>
              </a:spcBef>
              <a:spcAft>
                <a:spcPts val="500"/>
              </a:spcAft>
              <a:defRPr sz="1800"/>
            </a:lvl4pPr>
            <a:lvl5pPr>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917085" y="1987670"/>
            <a:ext cx="3436716" cy="4297680"/>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4/5/2026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5187899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ntent 3">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43C0D-8C0B-0B3C-7014-7B7217C008E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7B715CF-E60F-DDAE-369E-BCC2CE4FF958}"/>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2BD8F5F-4228-6BB9-5EA6-55359089824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F721F95-97C0-7151-B9F6-C088CEA1A7F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978AD50A-9C6A-454B-0CAD-EAB518440143}"/>
              </a:ext>
            </a:extLst>
          </p:cNvPr>
          <p:cNvSpPr>
            <a:spLocks noGrp="1"/>
          </p:cNvSpPr>
          <p:nvPr>
            <p:ph type="pic" sz="quarter" idx="10"/>
          </p:nvPr>
        </p:nvSpPr>
        <p:spPr>
          <a:xfrm>
            <a:off x="3810" y="0"/>
            <a:ext cx="7816995" cy="6858000"/>
          </a:xfrm>
          <a:custGeom>
            <a:avLst/>
            <a:gdLst>
              <a:gd name="connsiteX0" fmla="*/ 0 w 7813675"/>
              <a:gd name="connsiteY0" fmla="*/ 0 h 6903720"/>
              <a:gd name="connsiteX1" fmla="*/ 7813675 w 7813675"/>
              <a:gd name="connsiteY1" fmla="*/ 0 h 6903720"/>
              <a:gd name="connsiteX2" fmla="*/ 7813675 w 7813675"/>
              <a:gd name="connsiteY2" fmla="*/ 6903720 h 6903720"/>
              <a:gd name="connsiteX3" fmla="*/ 0 w 7813675"/>
              <a:gd name="connsiteY3" fmla="*/ 6903720 h 6903720"/>
              <a:gd name="connsiteX4" fmla="*/ 0 w 7813675"/>
              <a:gd name="connsiteY4" fmla="*/ 0 h 6903720"/>
              <a:gd name="connsiteX0" fmla="*/ 0 w 7813675"/>
              <a:gd name="connsiteY0" fmla="*/ 0 h 6903720"/>
              <a:gd name="connsiteX1" fmla="*/ 7813675 w 7813675"/>
              <a:gd name="connsiteY1" fmla="*/ 0 h 6903720"/>
              <a:gd name="connsiteX2" fmla="*/ 7813675 w 7813675"/>
              <a:gd name="connsiteY2" fmla="*/ 6903720 h 6903720"/>
              <a:gd name="connsiteX3" fmla="*/ 798854 w 7813675"/>
              <a:gd name="connsiteY3" fmla="*/ 6867163 h 6903720"/>
              <a:gd name="connsiteX4" fmla="*/ 0 w 7813675"/>
              <a:gd name="connsiteY4" fmla="*/ 6903720 h 6903720"/>
              <a:gd name="connsiteX5" fmla="*/ 0 w 7813675"/>
              <a:gd name="connsiteY5" fmla="*/ 0 h 6903720"/>
              <a:gd name="connsiteX0" fmla="*/ 0 w 7813675"/>
              <a:gd name="connsiteY0" fmla="*/ 0 h 6907803"/>
              <a:gd name="connsiteX1" fmla="*/ 7813675 w 7813675"/>
              <a:gd name="connsiteY1" fmla="*/ 0 h 6907803"/>
              <a:gd name="connsiteX2" fmla="*/ 7813675 w 7813675"/>
              <a:gd name="connsiteY2" fmla="*/ 6903720 h 6907803"/>
              <a:gd name="connsiteX3" fmla="*/ 809014 w 7813675"/>
              <a:gd name="connsiteY3" fmla="*/ 6907803 h 6907803"/>
              <a:gd name="connsiteX4" fmla="*/ 0 w 7813675"/>
              <a:gd name="connsiteY4" fmla="*/ 6903720 h 6907803"/>
              <a:gd name="connsiteX5" fmla="*/ 0 w 7813675"/>
              <a:gd name="connsiteY5" fmla="*/ 0 h 6907803"/>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9891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740434 w 7813675"/>
              <a:gd name="connsiteY3" fmla="*/ 6898913 h 6903720"/>
              <a:gd name="connsiteX4" fmla="*/ 0 w 7813675"/>
              <a:gd name="connsiteY4" fmla="*/ 6903720 h 6903720"/>
              <a:gd name="connsiteX5" fmla="*/ 0 w 7813675"/>
              <a:gd name="connsiteY5" fmla="*/ 0 h 6903720"/>
              <a:gd name="connsiteX0" fmla="*/ 0 w 7813675"/>
              <a:gd name="connsiteY0" fmla="*/ 0 h 6907385"/>
              <a:gd name="connsiteX1" fmla="*/ 7813675 w 7813675"/>
              <a:gd name="connsiteY1" fmla="*/ 0 h 6907385"/>
              <a:gd name="connsiteX2" fmla="*/ 7813675 w 7813675"/>
              <a:gd name="connsiteY2" fmla="*/ 6903720 h 6907385"/>
              <a:gd name="connsiteX3" fmla="*/ 6359380 w 7813675"/>
              <a:gd name="connsiteY3" fmla="*/ 6907385 h 6907385"/>
              <a:gd name="connsiteX4" fmla="*/ 740434 w 7813675"/>
              <a:gd name="connsiteY4" fmla="*/ 6898913 h 6907385"/>
              <a:gd name="connsiteX5" fmla="*/ 0 w 7813675"/>
              <a:gd name="connsiteY5" fmla="*/ 6903720 h 6907385"/>
              <a:gd name="connsiteX6" fmla="*/ 0 w 7813675"/>
              <a:gd name="connsiteY6"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3320 w 7816995"/>
              <a:gd name="connsiteY5" fmla="*/ 690372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2899555 w 7816995"/>
              <a:gd name="connsiteY2" fmla="*/ 464820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16995" h="6907385">
                <a:moveTo>
                  <a:pt x="3320" y="0"/>
                </a:moveTo>
                <a:lnTo>
                  <a:pt x="7816995" y="0"/>
                </a:lnTo>
                <a:lnTo>
                  <a:pt x="2899555" y="4648200"/>
                </a:lnTo>
                <a:lnTo>
                  <a:pt x="6362700" y="6907385"/>
                </a:lnTo>
                <a:lnTo>
                  <a:pt x="743754" y="6898913"/>
                </a:lnTo>
                <a:lnTo>
                  <a:pt x="2876060" y="4644390"/>
                </a:lnTo>
                <a:cubicBezTo>
                  <a:pt x="1610033" y="3689302"/>
                  <a:pt x="1117437" y="3324763"/>
                  <a:pt x="0" y="2510645"/>
                </a:cubicBezTo>
                <a:cubicBezTo>
                  <a:pt x="1107" y="1673763"/>
                  <a:pt x="2213" y="836882"/>
                  <a:pt x="3320" y="0"/>
                </a:cubicBezTo>
                <a:close/>
              </a:path>
            </a:pathLst>
          </a:custGeom>
          <a:solidFill>
            <a:schemeClr val="tx2"/>
          </a:solidFill>
          <a:ln w="22225">
            <a:noFill/>
          </a:ln>
        </p:spPr>
        <p:txBody>
          <a:bodyPr lIns="274320" tIns="274320">
            <a:normAutofit/>
          </a:bodyPr>
          <a:lstStyle>
            <a:lvl1pPr marL="0" indent="0">
              <a:buNone/>
              <a:defRPr sz="2000"/>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6080992" y="731562"/>
            <a:ext cx="4902843" cy="3526778"/>
          </a:xfrm>
          <a:noFill/>
        </p:spPr>
        <p:txBody>
          <a:bodyPr anchor="b">
            <a:noAutofit/>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080992" y="4373217"/>
            <a:ext cx="4902843" cy="1753221"/>
          </a:xfrm>
        </p:spPr>
        <p:txBody>
          <a:bodyPr anchor="t" anchorCtr="0">
            <a:normAutofit/>
          </a:bodyPr>
          <a:lstStyle>
            <a:lvl1pPr marL="0" indent="0">
              <a:spcBef>
                <a:spcPts val="1000"/>
              </a:spcBef>
              <a:buNone/>
              <a:defRPr sz="1800">
                <a:solidFill>
                  <a:schemeClr val="tx1"/>
                </a:solidFill>
              </a:defRPr>
            </a:lvl1pPr>
            <a:lvl2pPr>
              <a:spcBef>
                <a:spcPts val="1000"/>
              </a:spcBef>
              <a:defRPr sz="1600">
                <a:solidFill>
                  <a:schemeClr val="tx1"/>
                </a:solidFill>
              </a:defRPr>
            </a:lvl2pPr>
            <a:lvl3pPr>
              <a:spcBef>
                <a:spcPts val="1000"/>
              </a:spcBef>
              <a:defRPr sz="1400">
                <a:solidFill>
                  <a:schemeClr val="tx1"/>
                </a:solidFill>
              </a:defRPr>
            </a:lvl3pPr>
            <a:lvl4pPr>
              <a:spcBef>
                <a:spcPts val="1000"/>
              </a:spcBef>
              <a:defRPr sz="1200">
                <a:solidFill>
                  <a:schemeClr val="tx1"/>
                </a:solidFill>
              </a:defRPr>
            </a:lvl4pPr>
            <a:lvl5pPr>
              <a:spcBef>
                <a:spcPts val="1000"/>
              </a:spcBef>
              <a:defRPr sz="120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25396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D6D8061D-18C3-4F4F-85EF-561633F58754}" type="datetimeFigureOut">
              <a:rPr lang="en-US" smtClean="0"/>
              <a:t>4/5/2026</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55606510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3" r:id="rId13"/>
    <p:sldLayoutId id="2147483685" r:id="rId14"/>
    <p:sldLayoutId id="2147483686" r:id="rId15"/>
    <p:sldLayoutId id="2147483687" r:id="rId16"/>
    <p:sldLayoutId id="2147483689" r:id="rId17"/>
    <p:sldLayoutId id="2147483691" r:id="rId18"/>
  </p:sldLayoutIdLst>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36">
          <p15:clr>
            <a:srgbClr val="F26B43"/>
          </p15:clr>
        </p15:guide>
        <p15:guide id="4" orient="horz" pos="3984">
          <p15:clr>
            <a:srgbClr val="F26B43"/>
          </p15:clr>
        </p15:guide>
        <p15:guide id="5" pos="336">
          <p15:clr>
            <a:srgbClr val="F26B43"/>
          </p15:clr>
        </p15:guide>
        <p15:guide id="6" pos="7344">
          <p15:clr>
            <a:srgbClr val="F26B43"/>
          </p15:clr>
        </p15:guide>
        <p15:guide id="7" pos="720">
          <p15:clr>
            <a:srgbClr val="F26B43"/>
          </p15:clr>
        </p15:guide>
        <p15:guide id="8" pos="69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hyperlink" Target="https://www.atlassian.com/trust/security/security-practices#our-approach" TargetMode="External"/><Relationship Id="rId2" Type="http://schemas.openxmlformats.org/officeDocument/2006/relationships/notesSlide" Target="../notesSlides/notesSlide16.xml"/><Relationship Id="rId1" Type="http://schemas.openxmlformats.org/officeDocument/2006/relationships/slideLayout" Target="../slideLayouts/slideLayout15.xml"/><Relationship Id="rId5" Type="http://schemas.openxmlformats.org/officeDocument/2006/relationships/hyperlink" Target="https://aws.amazon.com/what-is/cloud-migration/" TargetMode="External"/><Relationship Id="rId4" Type="http://schemas.openxmlformats.org/officeDocument/2006/relationships/hyperlink" Target="https://aws.amazon.com/what-is/cloud-data-security/"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docs.aws.amazon.com/pdfs/whitepapers/latest/aws-overview/aws-overview.pdf#six-advantages-of-cloud-computing" TargetMode="External"/><Relationship Id="rId2" Type="http://schemas.openxmlformats.org/officeDocument/2006/relationships/notesSlide" Target="../notesSlides/notesSlide17.xml"/><Relationship Id="rId1" Type="http://schemas.openxmlformats.org/officeDocument/2006/relationships/slideLayout" Target="../slideLayouts/slideLayout15.xml"/><Relationship Id="rId5" Type="http://schemas.openxmlformats.org/officeDocument/2006/relationships/hyperlink" Target="https://www.oracle.com/cloud/why-move-to-cloud/" TargetMode="External"/><Relationship Id="rId4" Type="http://schemas.openxmlformats.org/officeDocument/2006/relationships/hyperlink" Target="https://www.oracle.com/cloud/cloud-computing-cost/"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www.microsoft.com/en-us/microsoft-365/business-insights-ideas/resources/cloud-storage-vs-on-premises-servers" TargetMode="External"/><Relationship Id="rId2" Type="http://schemas.openxmlformats.org/officeDocument/2006/relationships/notesSlide" Target="../notesSlides/notesSlide18.xml"/><Relationship Id="rId1" Type="http://schemas.openxmlformats.org/officeDocument/2006/relationships/slideLayout" Target="../slideLayouts/slideLayout15.xml"/><Relationship Id="rId5" Type="http://schemas.openxmlformats.org/officeDocument/2006/relationships/hyperlink" Target="https://www.ibm.com/docs/en/i/7.6.0?topic=optimization-join-performance-problems" TargetMode="External"/><Relationship Id="rId4" Type="http://schemas.openxmlformats.org/officeDocument/2006/relationships/hyperlink" Target="https://www.ibm.com/docs/en/i/7.6.0?topic=techniques-improve-concurrency"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www.ibm.com/docs/en/informix-servers/15.0.x?topic=execution-example-join-indexes" TargetMode="External"/><Relationship Id="rId2" Type="http://schemas.openxmlformats.org/officeDocument/2006/relationships/notesSlide" Target="../notesSlides/notesSlide19.xml"/><Relationship Id="rId1" Type="http://schemas.openxmlformats.org/officeDocument/2006/relationships/slideLayout" Target="../slideLayouts/slideLayout15.xml"/><Relationship Id="rId5" Type="http://schemas.openxmlformats.org/officeDocument/2006/relationships/hyperlink" Target="https://www.ibm.com/think/insights/software-as-a-service-advantages" TargetMode="External"/><Relationship Id="rId4" Type="http://schemas.openxmlformats.org/officeDocument/2006/relationships/hyperlink" Target="https://www.ibm.com/docs/en/db2-for-zos/13.0.0?topic=queries-writing-efficient-subqueries"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intel.com/content/www/us/en/learn/what-are-cloud-deployment-models.html" TargetMode="External"/><Relationship Id="rId2" Type="http://schemas.openxmlformats.org/officeDocument/2006/relationships/notesSlide" Target="../notesSlides/notesSlide20.xml"/><Relationship Id="rId1" Type="http://schemas.openxmlformats.org/officeDocument/2006/relationships/slideLayout" Target="../slideLayouts/slideLayout15.xml"/><Relationship Id="rId5" Type="http://schemas.openxmlformats.org/officeDocument/2006/relationships/hyperlink" Target="https://learn.microsoft.com/en-us/troubleshoot/sql/database-engine/performance/troubleshoot-never-ending-query?tabs=2008-2014" TargetMode="External"/><Relationship Id="rId4" Type="http://schemas.openxmlformats.org/officeDocument/2006/relationships/hyperlink" Target="https://azure.microsoft.com/en-us/resources/cloud-computing-dictionary/benefits-of-cloud-migration"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ww.microsoft.com/en-us/security/business/security-101/what-is-cloud-data-security" TargetMode="External"/><Relationship Id="rId2" Type="http://schemas.openxmlformats.org/officeDocument/2006/relationships/notesSlide" Target="../notesSlides/notesSlide21.xml"/><Relationship Id="rId1" Type="http://schemas.openxmlformats.org/officeDocument/2006/relationships/slideLayout" Target="../slideLayouts/slideLayout15.xml"/><Relationship Id="rId5" Type="http://schemas.openxmlformats.org/officeDocument/2006/relationships/hyperlink" Target="https://www.mongodb.com/resources/basics/databases/managed-database" TargetMode="External"/><Relationship Id="rId4" Type="http://schemas.openxmlformats.org/officeDocument/2006/relationships/hyperlink" Target="https://azure.microsoft.com/en-us/resources/cloud-computing-dictionary/what-is-saas"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dev.mysql.com/doc/refman/8.4/en/subqueries.html" TargetMode="External"/><Relationship Id="rId2" Type="http://schemas.openxmlformats.org/officeDocument/2006/relationships/notesSlide" Target="../notesSlides/notesSlide22.xml"/><Relationship Id="rId1" Type="http://schemas.openxmlformats.org/officeDocument/2006/relationships/slideLayout" Target="../slideLayouts/slideLayout15.xml"/><Relationship Id="rId5" Type="http://schemas.openxmlformats.org/officeDocument/2006/relationships/hyperlink" Target="https://www.oracle.com/database/migrate-database-to-cloud/" TargetMode="External"/><Relationship Id="rId4" Type="http://schemas.openxmlformats.org/officeDocument/2006/relationships/hyperlink" Target="https://dev.mysql.com/doc/refman/8.4/en/order-by-optimization.html"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www.oracle.com/autonomous-database/what-is-managed-database/" TargetMode="External"/><Relationship Id="rId2" Type="http://schemas.openxmlformats.org/officeDocument/2006/relationships/notesSlide" Target="../notesSlides/notesSlide23.xml"/><Relationship Id="rId1" Type="http://schemas.openxmlformats.org/officeDocument/2006/relationships/slideLayout" Target="../slideLayouts/slideLayout15.xml"/><Relationship Id="rId5" Type="http://schemas.openxmlformats.org/officeDocument/2006/relationships/hyperlink" Target="https://www.red-gate.com/simple-talk/databases/sql-server/database-administration-sql-server/sql-server-triggers-good-scary/#when-are-triggers-dangerous" TargetMode="External"/><Relationship Id="rId4" Type="http://schemas.openxmlformats.org/officeDocument/2006/relationships/hyperlink" Target="https://www.oracle.com/applications/what-is-saas/"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www.sciencedirect.com/science/chapter/monograph/pii/B9780123820204000100" TargetMode="External"/><Relationship Id="rId2" Type="http://schemas.openxmlformats.org/officeDocument/2006/relationships/notesSlide" Target="../notesSlides/notesSlide24.xml"/><Relationship Id="rId1" Type="http://schemas.openxmlformats.org/officeDocument/2006/relationships/slideLayout" Target="../slideLayouts/slideLayout15.xml"/><Relationship Id="rId4" Type="http://schemas.openxmlformats.org/officeDocument/2006/relationships/hyperlink" Target="https://www.sciencedirect.com/science/chapter/referencework/pii/B0122272404000265"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FEC93CF-2672-7D78-F278-58C5E012E0DF}"/>
              </a:ext>
            </a:extLst>
          </p:cNvPr>
          <p:cNvSpPr>
            <a:spLocks noGrp="1"/>
          </p:cNvSpPr>
          <p:nvPr>
            <p:ph type="ctrTitle"/>
          </p:nvPr>
        </p:nvSpPr>
        <p:spPr/>
        <p:txBody>
          <a:bodyPr/>
          <a:lstStyle/>
          <a:p>
            <a:r>
              <a:rPr lang="en-US" i="0"/>
              <a:t> </a:t>
            </a:r>
            <a:br>
              <a:rPr lang="en-US" i="0" dirty="0"/>
            </a:br>
            <a:r>
              <a:rPr lang="en-US" i="0" dirty="0"/>
              <a:t>Final project</a:t>
            </a:r>
          </a:p>
        </p:txBody>
      </p:sp>
      <p:pic>
        <p:nvPicPr>
          <p:cNvPr id="7" name="Picture Placeholder 6" descr="Looking up view of a city with skyscrapers">
            <a:extLst>
              <a:ext uri="{FF2B5EF4-FFF2-40B4-BE49-F238E27FC236}">
                <a16:creationId xmlns:a16="http://schemas.microsoft.com/office/drawing/2014/main" id="{ED21B7CD-3D69-26B5-8A0B-52A19A6B0A26}"/>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72" r="72"/>
          <a:stretch/>
        </p:blipFill>
        <p:spPr/>
      </p:pic>
      <p:sp>
        <p:nvSpPr>
          <p:cNvPr id="2" name="TextBox 1">
            <a:extLst>
              <a:ext uri="{FF2B5EF4-FFF2-40B4-BE49-F238E27FC236}">
                <a16:creationId xmlns:a16="http://schemas.microsoft.com/office/drawing/2014/main" id="{86BAEB75-BE15-976B-6E44-8AA02913293E}"/>
              </a:ext>
            </a:extLst>
          </p:cNvPr>
          <p:cNvSpPr txBox="1"/>
          <p:nvPr/>
        </p:nvSpPr>
        <p:spPr>
          <a:xfrm>
            <a:off x="857468" y="4082534"/>
            <a:ext cx="3223465" cy="1200329"/>
          </a:xfrm>
          <a:prstGeom prst="rect">
            <a:avLst/>
          </a:prstGeom>
          <a:noFill/>
        </p:spPr>
        <p:txBody>
          <a:bodyPr wrap="square" rtlCol="0">
            <a:spAutoFit/>
          </a:bodyPr>
          <a:lstStyle/>
          <a:p>
            <a:r>
              <a:rPr lang="en-US" dirty="0"/>
              <a:t>Ken Rodriguez</a:t>
            </a:r>
          </a:p>
          <a:p>
            <a:r>
              <a:rPr lang="en-US" dirty="0"/>
              <a:t>Southern New Hampshire University</a:t>
            </a:r>
          </a:p>
          <a:p>
            <a:r>
              <a:rPr lang="en-US" dirty="0"/>
              <a:t>IT-655</a:t>
            </a:r>
          </a:p>
          <a:p>
            <a:r>
              <a:rPr lang="en-US" dirty="0"/>
              <a:t>Professor Noel Broman</a:t>
            </a:r>
          </a:p>
        </p:txBody>
      </p:sp>
    </p:spTree>
    <p:extLst>
      <p:ext uri="{BB962C8B-B14F-4D97-AF65-F5344CB8AC3E}">
        <p14:creationId xmlns:p14="http://schemas.microsoft.com/office/powerpoint/2010/main" val="3078994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noFill/>
        </p:spPr>
        <p:txBody>
          <a:bodyPr/>
          <a:lstStyle/>
          <a:p>
            <a:r>
              <a:rPr lang="en-US" dirty="0"/>
              <a:t>Introduction</a:t>
            </a:r>
          </a:p>
        </p:txBody>
      </p:sp>
      <p:pic>
        <p:nvPicPr>
          <p:cNvPr id="24" name="Picture Placeholder 7" descr="Looking up view of tall buildings">
            <a:extLst>
              <a:ext uri="{FF2B5EF4-FFF2-40B4-BE49-F238E27FC236}">
                <a16:creationId xmlns:a16="http://schemas.microsoft.com/office/drawing/2014/main" id="{A672B903-78EE-718A-C122-69D512078839}"/>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61" b="61"/>
          <a:stretch/>
        </p:blipFill>
        <p:spPr>
          <a:noFill/>
        </p:spPr>
      </p:pic>
      <p:sp>
        <p:nvSpPr>
          <p:cNvPr id="3" name="Content Placeholder 2">
            <a:extLst>
              <a:ext uri="{FF2B5EF4-FFF2-40B4-BE49-F238E27FC236}">
                <a16:creationId xmlns:a16="http://schemas.microsoft.com/office/drawing/2014/main" id="{A6A33159-D030-2F82-A142-F75940728319}"/>
              </a:ext>
            </a:extLst>
          </p:cNvPr>
          <p:cNvSpPr>
            <a:spLocks noGrp="1"/>
          </p:cNvSpPr>
          <p:nvPr>
            <p:ph sz="half" idx="2"/>
          </p:nvPr>
        </p:nvSpPr>
        <p:spPr>
          <a:noFill/>
        </p:spPr>
        <p:txBody>
          <a:bodyPr vert="horz" lIns="91440" tIns="45720" rIns="91440" bIns="45720" rtlCol="0" anchor="t">
            <a:normAutofit/>
          </a:bodyPr>
          <a:lstStyle/>
          <a:p>
            <a:pPr lvl="0"/>
            <a:r>
              <a:rPr lang="en-US" sz="2000" dirty="0" err="1"/>
              <a:t>Everstone</a:t>
            </a:r>
            <a:r>
              <a:rPr lang="en-US" sz="2000" dirty="0"/>
              <a:t> County is currently utilizing a database system that is inadequate for their property tax assessment, parcel, and payment information.</a:t>
            </a:r>
          </a:p>
          <a:p>
            <a:pPr lvl="0"/>
            <a:r>
              <a:rPr lang="en-US" sz="2000" dirty="0"/>
              <a:t>Proprietary Database Utilization for Property Tax Assessment, Parcel, and Payment Information.</a:t>
            </a:r>
          </a:p>
          <a:p>
            <a:pPr lvl="0"/>
            <a:r>
              <a:rPr lang="en-US" sz="2000" dirty="0"/>
              <a:t>This system has been implemented to reduce the number of paper receipts and in-office appointments.</a:t>
            </a:r>
          </a:p>
          <a:p>
            <a:pPr lvl="0"/>
            <a:r>
              <a:rPr lang="en-US" sz="2000" dirty="0"/>
              <a:t>Database bottlenecks have been identified including redundant data, unoptimized queries, and poorly implemented triggers.</a:t>
            </a:r>
          </a:p>
        </p:txBody>
      </p:sp>
    </p:spTree>
    <p:extLst>
      <p:ext uri="{BB962C8B-B14F-4D97-AF65-F5344CB8AC3E}">
        <p14:creationId xmlns:p14="http://schemas.microsoft.com/office/powerpoint/2010/main" val="3666674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noFill/>
        </p:spPr>
        <p:txBody>
          <a:bodyPr/>
          <a:lstStyle/>
          <a:p>
            <a:r>
              <a:rPr lang="en-US" dirty="0"/>
              <a:t>Performance Tuning</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half" idx="1"/>
          </p:nvPr>
        </p:nvSpPr>
        <p:spPr>
          <a:xfrm>
            <a:off x="838199" y="2055813"/>
            <a:ext cx="6645965" cy="4067492"/>
          </a:xfrm>
          <a:noFill/>
        </p:spPr>
        <p:txBody>
          <a:bodyPr vert="horz" lIns="91440" tIns="45720" rIns="91440" bIns="45720" rtlCol="0" anchor="t">
            <a:normAutofit/>
          </a:bodyPr>
          <a:lstStyle/>
          <a:p>
            <a:pPr marL="285750" indent="-285750">
              <a:buFontTx/>
              <a:buChar char="-"/>
            </a:pPr>
            <a:r>
              <a:rPr lang="en-US" sz="3000" dirty="0"/>
              <a:t>Improve Table Structure to Reduce Data Redundancy (Wang &amp; Chan, 2004)</a:t>
            </a:r>
          </a:p>
          <a:p>
            <a:pPr marL="285750" indent="-285750">
              <a:buFontTx/>
              <a:buChar char="-"/>
            </a:pPr>
            <a:r>
              <a:rPr lang="en-US" sz="3000" dirty="0"/>
              <a:t>Optimize Queries (Microsoft Learn, 2025)</a:t>
            </a:r>
          </a:p>
          <a:p>
            <a:pPr marL="285750" indent="-285750">
              <a:buFontTx/>
              <a:buChar char="-"/>
            </a:pPr>
            <a:r>
              <a:rPr lang="en-US" sz="3000" dirty="0"/>
              <a:t>Simplify Triggers (Pollack, 2021)</a:t>
            </a:r>
          </a:p>
          <a:p>
            <a:pPr marL="285750" indent="-285750">
              <a:buFontTx/>
              <a:buChar char="-"/>
            </a:pPr>
            <a:endParaRPr lang="en-US" sz="3000" dirty="0"/>
          </a:p>
          <a:p>
            <a:pPr marL="285750" indent="-285750">
              <a:buFontTx/>
              <a:buChar char="-"/>
            </a:pPr>
            <a:endParaRPr lang="en-US" sz="3000" dirty="0"/>
          </a:p>
          <a:p>
            <a:pPr marL="457200" indent="-457200">
              <a:buFont typeface="Arial" panose="020B0604020202020204" pitchFamily="34" charset="0"/>
              <a:buChar char="•"/>
            </a:pPr>
            <a:endParaRPr lang="en-US" sz="3000" dirty="0"/>
          </a:p>
          <a:p>
            <a:pPr marL="457200" indent="-457200">
              <a:buFont typeface="Arial" panose="020B0604020202020204" pitchFamily="34" charset="0"/>
              <a:buChar char="•"/>
            </a:pPr>
            <a:endParaRPr lang="en-US" sz="3000" dirty="0"/>
          </a:p>
        </p:txBody>
      </p:sp>
      <p:pic>
        <p:nvPicPr>
          <p:cNvPr id="20" name="Picture Placeholder 19" descr="City lights at night">
            <a:extLst>
              <a:ext uri="{FF2B5EF4-FFF2-40B4-BE49-F238E27FC236}">
                <a16:creationId xmlns:a16="http://schemas.microsoft.com/office/drawing/2014/main" id="{E5D7764F-CE06-1A00-3555-ACAE6ACDFE10}"/>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52" b="52"/>
          <a:stretch/>
        </p:blipFill>
        <p:spPr/>
      </p:pic>
    </p:spTree>
    <p:extLst>
      <p:ext uri="{BB962C8B-B14F-4D97-AF65-F5344CB8AC3E}">
        <p14:creationId xmlns:p14="http://schemas.microsoft.com/office/powerpoint/2010/main" val="2737241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noFill/>
        </p:spPr>
        <p:txBody>
          <a:bodyPr/>
          <a:lstStyle/>
          <a:p>
            <a:r>
              <a:rPr lang="en-US" dirty="0"/>
              <a:t>Query Design</a:t>
            </a:r>
          </a:p>
        </p:txBody>
      </p:sp>
      <p:sp>
        <p:nvSpPr>
          <p:cNvPr id="3" name="Content Placeholder 2">
            <a:extLst>
              <a:ext uri="{FF2B5EF4-FFF2-40B4-BE49-F238E27FC236}">
                <a16:creationId xmlns:a16="http://schemas.microsoft.com/office/drawing/2014/main" id="{05948542-FCE1-3AE6-C6C9-17975609DF70}"/>
              </a:ext>
            </a:extLst>
          </p:cNvPr>
          <p:cNvSpPr>
            <a:spLocks noGrp="1"/>
          </p:cNvSpPr>
          <p:nvPr>
            <p:ph sz="half" idx="14"/>
          </p:nvPr>
        </p:nvSpPr>
        <p:spPr>
          <a:xfrm>
            <a:off x="440267" y="2026920"/>
            <a:ext cx="7677445" cy="4297679"/>
          </a:xfrm>
          <a:noFill/>
        </p:spPr>
        <p:txBody>
          <a:bodyPr vert="horz" lIns="91440" tIns="45720" rIns="91440" bIns="45720" rtlCol="0" anchor="t">
            <a:normAutofit/>
          </a:bodyPr>
          <a:lstStyle/>
          <a:p>
            <a:pPr lvl="1">
              <a:buFontTx/>
              <a:buChar char="-"/>
            </a:pPr>
            <a:r>
              <a:rPr lang="en-US" sz="3000" dirty="0"/>
              <a:t>Improving Joins (IBM, 2025, 2026)</a:t>
            </a:r>
          </a:p>
          <a:p>
            <a:pPr lvl="1">
              <a:buFontTx/>
              <a:buChar char="-"/>
            </a:pPr>
            <a:r>
              <a:rPr lang="en-US" sz="3000" dirty="0"/>
              <a:t>Optimize Queries (Microsoft Learn, 2025)</a:t>
            </a:r>
          </a:p>
          <a:p>
            <a:pPr lvl="1">
              <a:buFontTx/>
              <a:buChar char="-"/>
            </a:pPr>
            <a:r>
              <a:rPr lang="en-US" sz="3000" dirty="0"/>
              <a:t>Simplify Triggers (Pollack, 2021)</a:t>
            </a:r>
          </a:p>
          <a:p>
            <a:pPr lvl="1"/>
            <a:endParaRPr lang="en-US" sz="3000" dirty="0"/>
          </a:p>
        </p:txBody>
      </p:sp>
    </p:spTree>
    <p:extLst>
      <p:ext uri="{BB962C8B-B14F-4D97-AF65-F5344CB8AC3E}">
        <p14:creationId xmlns:p14="http://schemas.microsoft.com/office/powerpoint/2010/main" val="643777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noFill/>
        </p:spPr>
        <p:txBody>
          <a:bodyPr/>
          <a:lstStyle/>
          <a:p>
            <a:r>
              <a:rPr lang="en-US" dirty="0"/>
              <a:t>Data Duplication and redundancy</a:t>
            </a: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14"/>
          </p:nvPr>
        </p:nvSpPr>
        <p:spPr>
          <a:xfrm>
            <a:off x="834961" y="2032663"/>
            <a:ext cx="9291172" cy="4067492"/>
          </a:xfrm>
          <a:solidFill>
            <a:schemeClr val="bg1"/>
          </a:solidFill>
        </p:spPr>
        <p:txBody>
          <a:bodyPr>
            <a:normAutofit/>
          </a:bodyPr>
          <a:lstStyle/>
          <a:p>
            <a:pPr marL="285750" indent="-285750">
              <a:buFontTx/>
              <a:buChar char="-"/>
            </a:pPr>
            <a:r>
              <a:rPr lang="en-US" sz="3000" dirty="0"/>
              <a:t>Normalization (Wang &amp; Chan, 2004)</a:t>
            </a:r>
          </a:p>
          <a:p>
            <a:pPr marL="285750" indent="-285750">
              <a:buFontTx/>
              <a:buChar char="-"/>
            </a:pPr>
            <a:r>
              <a:rPr lang="en-US" sz="3000" dirty="0"/>
              <a:t>First Normal Form (</a:t>
            </a:r>
            <a:r>
              <a:rPr lang="en-US" sz="3000" dirty="0" err="1"/>
              <a:t>Teory</a:t>
            </a:r>
            <a:r>
              <a:rPr lang="en-US" sz="3000" dirty="0"/>
              <a:t> et al., 2011)</a:t>
            </a:r>
          </a:p>
          <a:p>
            <a:pPr marL="285750" indent="-285750">
              <a:buFontTx/>
              <a:buChar char="-"/>
            </a:pPr>
            <a:r>
              <a:rPr lang="en-US" sz="3000" dirty="0"/>
              <a:t>Second Normal Form (</a:t>
            </a:r>
            <a:r>
              <a:rPr lang="en-US" sz="3000" dirty="0" err="1"/>
              <a:t>Teory</a:t>
            </a:r>
            <a:r>
              <a:rPr lang="en-US" sz="3000" dirty="0"/>
              <a:t> et al., 2011)</a:t>
            </a:r>
          </a:p>
          <a:p>
            <a:pPr marL="285750" indent="-285750">
              <a:buFontTx/>
              <a:buChar char="-"/>
            </a:pPr>
            <a:r>
              <a:rPr lang="en-US" sz="3000" dirty="0"/>
              <a:t>Third Normal Form (</a:t>
            </a:r>
            <a:r>
              <a:rPr lang="en-US" sz="3000" dirty="0" err="1"/>
              <a:t>Teory</a:t>
            </a:r>
            <a:r>
              <a:rPr lang="en-US" sz="3000" dirty="0"/>
              <a:t> et al., 2011)</a:t>
            </a:r>
          </a:p>
          <a:p>
            <a:pPr marL="285750" indent="-285750">
              <a:buFontTx/>
              <a:buChar char="-"/>
            </a:pPr>
            <a:endParaRPr lang="en-US" sz="3000" dirty="0"/>
          </a:p>
        </p:txBody>
      </p:sp>
    </p:spTree>
    <p:extLst>
      <p:ext uri="{BB962C8B-B14F-4D97-AF65-F5344CB8AC3E}">
        <p14:creationId xmlns:p14="http://schemas.microsoft.com/office/powerpoint/2010/main" val="837402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noFill/>
        </p:spPr>
        <p:txBody>
          <a:bodyPr/>
          <a:lstStyle/>
          <a:p>
            <a:r>
              <a:rPr lang="en-US" dirty="0"/>
              <a:t>Resolving record concurrency</a:t>
            </a:r>
          </a:p>
        </p:txBody>
      </p:sp>
      <p:sp>
        <p:nvSpPr>
          <p:cNvPr id="4" name="Content Placeholder 3">
            <a:extLst>
              <a:ext uri="{FF2B5EF4-FFF2-40B4-BE49-F238E27FC236}">
                <a16:creationId xmlns:a16="http://schemas.microsoft.com/office/drawing/2014/main" id="{83302BFD-960F-CBB3-E984-CDC12813A10C}"/>
              </a:ext>
            </a:extLst>
          </p:cNvPr>
          <p:cNvSpPr>
            <a:spLocks noGrp="1"/>
          </p:cNvSpPr>
          <p:nvPr>
            <p:ph sz="half" idx="15"/>
          </p:nvPr>
        </p:nvSpPr>
        <p:spPr>
          <a:xfrm>
            <a:off x="838199" y="2078963"/>
            <a:ext cx="9440334" cy="4067492"/>
          </a:xfrm>
          <a:noFill/>
        </p:spPr>
        <p:txBody>
          <a:bodyPr>
            <a:normAutofit/>
          </a:bodyPr>
          <a:lstStyle/>
          <a:p>
            <a:pPr marL="285750" indent="-285750">
              <a:buFontTx/>
              <a:buChar char="-"/>
            </a:pPr>
            <a:r>
              <a:rPr lang="en-US" sz="3000" dirty="0"/>
              <a:t>Wait for a Record to Commit or Roll Back (IBM, 2025)</a:t>
            </a:r>
          </a:p>
          <a:p>
            <a:pPr marL="285750" indent="-285750">
              <a:buFontTx/>
              <a:buChar char="-"/>
            </a:pPr>
            <a:r>
              <a:rPr lang="en-US" sz="3000" dirty="0"/>
              <a:t>Use Available Data (IBM, 2025)</a:t>
            </a:r>
          </a:p>
          <a:p>
            <a:pPr marL="285750" indent="-285750">
              <a:buFontTx/>
              <a:buChar char="-"/>
            </a:pPr>
            <a:r>
              <a:rPr lang="en-US" sz="3000" dirty="0"/>
              <a:t>Skip Locked Records (IBM, 2025)</a:t>
            </a:r>
          </a:p>
          <a:p>
            <a:pPr marL="285750" indent="-285750">
              <a:buFontTx/>
              <a:buChar char="-"/>
            </a:pPr>
            <a:endParaRPr lang="en-US" sz="3000" dirty="0"/>
          </a:p>
        </p:txBody>
      </p:sp>
    </p:spTree>
    <p:extLst>
      <p:ext uri="{BB962C8B-B14F-4D97-AF65-F5344CB8AC3E}">
        <p14:creationId xmlns:p14="http://schemas.microsoft.com/office/powerpoint/2010/main" val="729609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E853C-50E7-5E5F-C1AF-BB6EBC719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25EC89-44D4-8776-731C-E6A451A971FB}"/>
              </a:ext>
            </a:extLst>
          </p:cNvPr>
          <p:cNvSpPr>
            <a:spLocks noGrp="1"/>
          </p:cNvSpPr>
          <p:nvPr>
            <p:ph type="title"/>
          </p:nvPr>
        </p:nvSpPr>
        <p:spPr>
          <a:noFill/>
        </p:spPr>
        <p:txBody>
          <a:bodyPr/>
          <a:lstStyle/>
          <a:p>
            <a:r>
              <a:rPr lang="en-US" dirty="0"/>
              <a:t>Multi-User Access</a:t>
            </a:r>
          </a:p>
        </p:txBody>
      </p:sp>
      <p:sp>
        <p:nvSpPr>
          <p:cNvPr id="4" name="Content Placeholder 3">
            <a:extLst>
              <a:ext uri="{FF2B5EF4-FFF2-40B4-BE49-F238E27FC236}">
                <a16:creationId xmlns:a16="http://schemas.microsoft.com/office/drawing/2014/main" id="{A53D7BE6-9621-79D6-5F3C-ADB34C71D1EA}"/>
              </a:ext>
            </a:extLst>
          </p:cNvPr>
          <p:cNvSpPr>
            <a:spLocks noGrp="1"/>
          </p:cNvSpPr>
          <p:nvPr>
            <p:ph sz="half" idx="15"/>
          </p:nvPr>
        </p:nvSpPr>
        <p:spPr>
          <a:xfrm>
            <a:off x="838199" y="2078963"/>
            <a:ext cx="9440334" cy="4067492"/>
          </a:xfrm>
          <a:noFill/>
        </p:spPr>
        <p:txBody>
          <a:bodyPr>
            <a:normAutofit/>
          </a:bodyPr>
          <a:lstStyle/>
          <a:p>
            <a:pPr marL="285750" lvl="0" indent="-285750">
              <a:buFontTx/>
              <a:buChar char="-"/>
            </a:pPr>
            <a:r>
              <a:rPr lang="en-US" sz="3000" dirty="0"/>
              <a:t>Reduce the Overall Number of Triggers (Pollack, 2021)</a:t>
            </a:r>
          </a:p>
          <a:p>
            <a:pPr marL="285750" indent="-285750">
              <a:buFontTx/>
              <a:buChar char="-"/>
            </a:pPr>
            <a:r>
              <a:rPr lang="en-US" sz="3000" dirty="0"/>
              <a:t>Optimize Joins Whenever Possible</a:t>
            </a:r>
          </a:p>
          <a:p>
            <a:pPr marL="285750" indent="-285750">
              <a:buFontTx/>
              <a:buChar char="-"/>
            </a:pPr>
            <a:r>
              <a:rPr lang="en-US" sz="3000" dirty="0"/>
              <a:t>Normalization to Third Form (Teory et al., 2011)</a:t>
            </a:r>
          </a:p>
          <a:p>
            <a:pPr marL="285750" indent="-285750">
              <a:buFontTx/>
              <a:buChar char="-"/>
            </a:pPr>
            <a:r>
              <a:rPr lang="en-US" sz="3000" dirty="0"/>
              <a:t>Use Available Data With Multi-User Access (IBM, 2025)</a:t>
            </a:r>
          </a:p>
          <a:p>
            <a:pPr marL="285750" lvl="0" indent="-285750">
              <a:buFontTx/>
              <a:buChar char="-"/>
            </a:pPr>
            <a:endParaRPr lang="en-US" sz="3000" dirty="0"/>
          </a:p>
        </p:txBody>
      </p:sp>
    </p:spTree>
    <p:extLst>
      <p:ext uri="{BB962C8B-B14F-4D97-AF65-F5344CB8AC3E}">
        <p14:creationId xmlns:p14="http://schemas.microsoft.com/office/powerpoint/2010/main" val="4199992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noFill/>
        </p:spPr>
        <p:txBody>
          <a:bodyPr/>
          <a:lstStyle/>
          <a:p>
            <a:r>
              <a:rPr lang="en-US" dirty="0"/>
              <a:t>Online </a:t>
            </a:r>
            <a:br>
              <a:rPr lang="en-US" dirty="0"/>
            </a:br>
            <a:r>
              <a:rPr lang="en-US" dirty="0"/>
              <a:t>database migration</a:t>
            </a:r>
          </a:p>
        </p:txBody>
      </p:sp>
      <p:pic>
        <p:nvPicPr>
          <p:cNvPr id="24" name="Picture Placeholder 7" descr="Looking up view of tall buildings">
            <a:extLst>
              <a:ext uri="{FF2B5EF4-FFF2-40B4-BE49-F238E27FC236}">
                <a16:creationId xmlns:a16="http://schemas.microsoft.com/office/drawing/2014/main" id="{A672B903-78EE-718A-C122-69D512078839}"/>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61" b="61"/>
          <a:stretch/>
        </p:blipFill>
        <p:spPr>
          <a:noFill/>
        </p:spPr>
      </p:pic>
      <p:sp>
        <p:nvSpPr>
          <p:cNvPr id="3" name="Content Placeholder 2">
            <a:extLst>
              <a:ext uri="{FF2B5EF4-FFF2-40B4-BE49-F238E27FC236}">
                <a16:creationId xmlns:a16="http://schemas.microsoft.com/office/drawing/2014/main" id="{A6A33159-D030-2F82-A142-F75940728319}"/>
              </a:ext>
            </a:extLst>
          </p:cNvPr>
          <p:cNvSpPr>
            <a:spLocks noGrp="1"/>
          </p:cNvSpPr>
          <p:nvPr>
            <p:ph sz="half" idx="2"/>
          </p:nvPr>
        </p:nvSpPr>
        <p:spPr>
          <a:noFill/>
        </p:spPr>
        <p:txBody>
          <a:bodyPr vert="horz" lIns="91440" tIns="45720" rIns="91440" bIns="45720" rtlCol="0" anchor="t">
            <a:normAutofit/>
          </a:bodyPr>
          <a:lstStyle/>
          <a:p>
            <a:pPr lvl="0"/>
            <a:r>
              <a:rPr lang="en-US" sz="3000" dirty="0"/>
              <a:t>Context</a:t>
            </a:r>
          </a:p>
          <a:p>
            <a:pPr lvl="0"/>
            <a:r>
              <a:rPr lang="en-US" sz="3000" dirty="0"/>
              <a:t>Potential Platforms</a:t>
            </a:r>
          </a:p>
          <a:p>
            <a:pPr lvl="0"/>
            <a:r>
              <a:rPr lang="en-US" sz="3000" dirty="0"/>
              <a:t>Migration Requirements</a:t>
            </a:r>
          </a:p>
          <a:p>
            <a:r>
              <a:rPr lang="en-US" sz="3000" dirty="0"/>
              <a:t>Cost Effectiveness</a:t>
            </a:r>
          </a:p>
        </p:txBody>
      </p:sp>
    </p:spTree>
    <p:extLst>
      <p:ext uri="{BB962C8B-B14F-4D97-AF65-F5344CB8AC3E}">
        <p14:creationId xmlns:p14="http://schemas.microsoft.com/office/powerpoint/2010/main" val="4278536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noFill/>
        </p:spPr>
        <p:txBody>
          <a:bodyPr/>
          <a:lstStyle/>
          <a:p>
            <a:r>
              <a:rPr lang="en-US" dirty="0"/>
              <a:t>Requirements for Database Changing</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half" idx="1"/>
          </p:nvPr>
        </p:nvSpPr>
        <p:spPr>
          <a:xfrm>
            <a:off x="838199" y="2055813"/>
            <a:ext cx="6645965" cy="4067492"/>
          </a:xfrm>
          <a:noFill/>
        </p:spPr>
        <p:txBody>
          <a:bodyPr vert="horz" lIns="91440" tIns="45720" rIns="91440" bIns="45720" rtlCol="0" anchor="t">
            <a:normAutofit/>
          </a:bodyPr>
          <a:lstStyle/>
          <a:p>
            <a:pPr marL="342900" indent="-342900">
              <a:buFontTx/>
              <a:buChar char="-"/>
            </a:pPr>
            <a:r>
              <a:rPr lang="en-US" sz="3000" dirty="0"/>
              <a:t>Accessibility </a:t>
            </a:r>
            <a:r>
              <a:rPr lang="en-US" sz="3000" dirty="0">
                <a:solidFill>
                  <a:schemeClr val="tx1"/>
                </a:solidFill>
              </a:rPr>
              <a:t>(Chen, 2023)</a:t>
            </a:r>
            <a:endParaRPr lang="en-US" sz="3000" dirty="0"/>
          </a:p>
          <a:p>
            <a:pPr marL="342900" indent="-342900">
              <a:buFontTx/>
              <a:buChar char="-"/>
            </a:pPr>
            <a:r>
              <a:rPr lang="en-US" sz="3000" dirty="0"/>
              <a:t>Design Flexibility </a:t>
            </a:r>
            <a:r>
              <a:rPr lang="en-US" sz="3000" dirty="0">
                <a:solidFill>
                  <a:schemeClr val="tx1"/>
                </a:solidFill>
              </a:rPr>
              <a:t>(AWS Whitepaper, 2024)</a:t>
            </a:r>
            <a:endParaRPr lang="en-US" sz="3000" dirty="0"/>
          </a:p>
          <a:p>
            <a:pPr marL="342900" indent="-342900">
              <a:buFontTx/>
              <a:buChar char="-"/>
            </a:pPr>
            <a:r>
              <a:rPr lang="en-US" sz="3000" dirty="0"/>
              <a:t>Reliability </a:t>
            </a:r>
            <a:r>
              <a:rPr lang="en-US" sz="3000" dirty="0">
                <a:solidFill>
                  <a:schemeClr val="tx1"/>
                </a:solidFill>
              </a:rPr>
              <a:t>(Chen, 2023)</a:t>
            </a:r>
            <a:endParaRPr lang="en-US" sz="3000" dirty="0"/>
          </a:p>
          <a:p>
            <a:pPr marL="342900" indent="-342900">
              <a:buFontTx/>
              <a:buChar char="-"/>
            </a:pPr>
            <a:endParaRPr lang="en-US" sz="3000" dirty="0"/>
          </a:p>
        </p:txBody>
      </p:sp>
      <p:pic>
        <p:nvPicPr>
          <p:cNvPr id="20" name="Picture Placeholder 19" descr="City lights at night">
            <a:extLst>
              <a:ext uri="{FF2B5EF4-FFF2-40B4-BE49-F238E27FC236}">
                <a16:creationId xmlns:a16="http://schemas.microsoft.com/office/drawing/2014/main" id="{E5D7764F-CE06-1A00-3555-ACAE6ACDFE10}"/>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52" b="52"/>
          <a:stretch/>
        </p:blipFill>
        <p:spPr/>
      </p:pic>
    </p:spTree>
    <p:extLst>
      <p:ext uri="{BB962C8B-B14F-4D97-AF65-F5344CB8AC3E}">
        <p14:creationId xmlns:p14="http://schemas.microsoft.com/office/powerpoint/2010/main" val="298630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noFill/>
        </p:spPr>
        <p:txBody>
          <a:bodyPr/>
          <a:lstStyle/>
          <a:p>
            <a:r>
              <a:rPr lang="en-US" dirty="0"/>
              <a:t>Cost Effectiveness</a:t>
            </a:r>
          </a:p>
        </p:txBody>
      </p:sp>
      <p:sp>
        <p:nvSpPr>
          <p:cNvPr id="3" name="Content Placeholder 2">
            <a:extLst>
              <a:ext uri="{FF2B5EF4-FFF2-40B4-BE49-F238E27FC236}">
                <a16:creationId xmlns:a16="http://schemas.microsoft.com/office/drawing/2014/main" id="{05948542-FCE1-3AE6-C6C9-17975609DF70}"/>
              </a:ext>
            </a:extLst>
          </p:cNvPr>
          <p:cNvSpPr>
            <a:spLocks noGrp="1"/>
          </p:cNvSpPr>
          <p:nvPr>
            <p:ph sz="half" idx="14"/>
          </p:nvPr>
        </p:nvSpPr>
        <p:spPr>
          <a:xfrm>
            <a:off x="440267" y="2026920"/>
            <a:ext cx="7677445" cy="4297679"/>
          </a:xfrm>
          <a:noFill/>
        </p:spPr>
        <p:txBody>
          <a:bodyPr vert="horz" lIns="91440" tIns="45720" rIns="91440" bIns="45720" rtlCol="0" anchor="t">
            <a:normAutofit/>
          </a:bodyPr>
          <a:lstStyle/>
          <a:p>
            <a:pPr lvl="1"/>
            <a:r>
              <a:rPr lang="en-US" sz="3000" dirty="0"/>
              <a:t>Lower Introductory Costs </a:t>
            </a:r>
            <a:r>
              <a:rPr lang="en-US" sz="3000" dirty="0">
                <a:solidFill>
                  <a:schemeClr val="tx1"/>
                </a:solidFill>
              </a:rPr>
              <a:t>(Chen, 2023)</a:t>
            </a:r>
            <a:endParaRPr lang="en-US" sz="3000" dirty="0"/>
          </a:p>
          <a:p>
            <a:pPr lvl="1"/>
            <a:r>
              <a:rPr lang="en-US" sz="3000" dirty="0"/>
              <a:t>Improved Operational Costs </a:t>
            </a:r>
            <a:r>
              <a:rPr lang="en-US" sz="3000" dirty="0">
                <a:solidFill>
                  <a:schemeClr val="tx1"/>
                </a:solidFill>
              </a:rPr>
              <a:t>(Microsoft, n.d.)</a:t>
            </a:r>
            <a:endParaRPr lang="en-US" sz="3000" dirty="0"/>
          </a:p>
          <a:p>
            <a:pPr lvl="1"/>
            <a:r>
              <a:rPr lang="en-US" sz="3000" dirty="0"/>
              <a:t>Improved Deployment Speeds </a:t>
            </a:r>
            <a:r>
              <a:rPr lang="en-US" sz="3000" dirty="0">
                <a:solidFill>
                  <a:schemeClr val="tx1"/>
                </a:solidFill>
              </a:rPr>
              <a:t>(Bogusch, 2024)</a:t>
            </a:r>
            <a:endParaRPr lang="en-US" sz="3000" dirty="0"/>
          </a:p>
        </p:txBody>
      </p:sp>
    </p:spTree>
    <p:extLst>
      <p:ext uri="{BB962C8B-B14F-4D97-AF65-F5344CB8AC3E}">
        <p14:creationId xmlns:p14="http://schemas.microsoft.com/office/powerpoint/2010/main" val="1106174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noFill/>
        </p:spPr>
        <p:txBody>
          <a:bodyPr/>
          <a:lstStyle/>
          <a:p>
            <a:r>
              <a:rPr lang="en-US" dirty="0"/>
              <a:t>Online Database Platforms</a:t>
            </a:r>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14"/>
          </p:nvPr>
        </p:nvSpPr>
        <p:spPr>
          <a:xfrm>
            <a:off x="834961" y="2032663"/>
            <a:ext cx="9291172" cy="4067492"/>
          </a:xfrm>
          <a:solidFill>
            <a:schemeClr val="bg1"/>
          </a:solidFill>
        </p:spPr>
        <p:txBody>
          <a:bodyPr>
            <a:normAutofit/>
          </a:bodyPr>
          <a:lstStyle/>
          <a:p>
            <a:pPr marL="285750" indent="-285750">
              <a:buFontTx/>
              <a:buChar char="-"/>
            </a:pPr>
            <a:r>
              <a:rPr lang="en-US" sz="3000" dirty="0"/>
              <a:t>Hosted SQL Servers </a:t>
            </a:r>
            <a:r>
              <a:rPr lang="en-US" sz="3000" dirty="0">
                <a:solidFill>
                  <a:schemeClr val="tx1"/>
                </a:solidFill>
              </a:rPr>
              <a:t>(Oracle, 2021)</a:t>
            </a:r>
            <a:endParaRPr lang="en-US" sz="3000" dirty="0"/>
          </a:p>
          <a:p>
            <a:pPr marL="285750" indent="-285750">
              <a:buFontTx/>
              <a:buChar char="-"/>
            </a:pPr>
            <a:r>
              <a:rPr lang="en-US" sz="3000" dirty="0"/>
              <a:t>Software as a Service Providers </a:t>
            </a:r>
            <a:r>
              <a:rPr lang="en-US" sz="3000" dirty="0">
                <a:solidFill>
                  <a:schemeClr val="tx1"/>
                </a:solidFill>
              </a:rPr>
              <a:t>(Oracle, n.d.)</a:t>
            </a:r>
            <a:endParaRPr lang="en-US" sz="3000" dirty="0"/>
          </a:p>
          <a:p>
            <a:pPr marL="285750" indent="-285750">
              <a:buFontTx/>
              <a:buChar char="-"/>
            </a:pPr>
            <a:r>
              <a:rPr lang="en-US" sz="3000" dirty="0"/>
              <a:t>Cloud Deployment Models </a:t>
            </a:r>
            <a:r>
              <a:rPr lang="en-US" sz="3000" dirty="0">
                <a:solidFill>
                  <a:schemeClr val="tx1"/>
                </a:solidFill>
              </a:rPr>
              <a:t>(Intel, n.d.)</a:t>
            </a:r>
            <a:endParaRPr lang="en-US" sz="3000" dirty="0"/>
          </a:p>
        </p:txBody>
      </p:sp>
    </p:spTree>
    <p:extLst>
      <p:ext uri="{BB962C8B-B14F-4D97-AF65-F5344CB8AC3E}">
        <p14:creationId xmlns:p14="http://schemas.microsoft.com/office/powerpoint/2010/main" val="1214557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noFill/>
        </p:spPr>
        <p:txBody>
          <a:bodyPr/>
          <a:lstStyle/>
          <a:p>
            <a:pPr lvl="0"/>
            <a:r>
              <a:rPr lang="en-US" dirty="0"/>
              <a:t>Hosted SQL Servers</a:t>
            </a:r>
          </a:p>
        </p:txBody>
      </p:sp>
      <p:sp>
        <p:nvSpPr>
          <p:cNvPr id="4" name="Content Placeholder 3">
            <a:extLst>
              <a:ext uri="{FF2B5EF4-FFF2-40B4-BE49-F238E27FC236}">
                <a16:creationId xmlns:a16="http://schemas.microsoft.com/office/drawing/2014/main" id="{83302BFD-960F-CBB3-E984-CDC12813A10C}"/>
              </a:ext>
            </a:extLst>
          </p:cNvPr>
          <p:cNvSpPr>
            <a:spLocks noGrp="1"/>
          </p:cNvSpPr>
          <p:nvPr>
            <p:ph sz="half" idx="15"/>
          </p:nvPr>
        </p:nvSpPr>
        <p:spPr>
          <a:xfrm>
            <a:off x="838199" y="2078963"/>
            <a:ext cx="9440334" cy="4067492"/>
          </a:xfrm>
          <a:noFill/>
        </p:spPr>
        <p:txBody>
          <a:bodyPr>
            <a:normAutofit/>
          </a:bodyPr>
          <a:lstStyle/>
          <a:p>
            <a:pPr marL="285750" indent="-285750">
              <a:buFontTx/>
              <a:buChar char="-"/>
            </a:pPr>
            <a:r>
              <a:rPr lang="en-US" sz="3000" dirty="0"/>
              <a:t>Greater Control Over Hardware and Software (Oracle, 2021)</a:t>
            </a:r>
          </a:p>
          <a:p>
            <a:pPr marL="285750" indent="-285750">
              <a:buFontTx/>
              <a:buChar char="-"/>
            </a:pPr>
            <a:r>
              <a:rPr lang="en-US" sz="3000" dirty="0"/>
              <a:t>Ease of Scaling (MongoDB, n.d.; Diamond, 2020)</a:t>
            </a:r>
          </a:p>
          <a:p>
            <a:pPr marL="285750" indent="-285750">
              <a:buFontTx/>
              <a:buChar char="-"/>
            </a:pPr>
            <a:r>
              <a:rPr lang="en-US" sz="3000" dirty="0"/>
              <a:t>Greater Complexity</a:t>
            </a:r>
          </a:p>
        </p:txBody>
      </p:sp>
    </p:spTree>
    <p:extLst>
      <p:ext uri="{BB962C8B-B14F-4D97-AF65-F5344CB8AC3E}">
        <p14:creationId xmlns:p14="http://schemas.microsoft.com/office/powerpoint/2010/main" val="763468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E853C-50E7-5E5F-C1AF-BB6EBC719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25EC89-44D4-8776-731C-E6A451A971FB}"/>
              </a:ext>
            </a:extLst>
          </p:cNvPr>
          <p:cNvSpPr>
            <a:spLocks noGrp="1"/>
          </p:cNvSpPr>
          <p:nvPr>
            <p:ph type="title"/>
          </p:nvPr>
        </p:nvSpPr>
        <p:spPr>
          <a:noFill/>
        </p:spPr>
        <p:txBody>
          <a:bodyPr/>
          <a:lstStyle/>
          <a:p>
            <a:r>
              <a:rPr lang="en-US" dirty="0"/>
              <a:t>Software as a service providers</a:t>
            </a:r>
          </a:p>
        </p:txBody>
      </p:sp>
      <p:sp>
        <p:nvSpPr>
          <p:cNvPr id="4" name="Content Placeholder 3">
            <a:extLst>
              <a:ext uri="{FF2B5EF4-FFF2-40B4-BE49-F238E27FC236}">
                <a16:creationId xmlns:a16="http://schemas.microsoft.com/office/drawing/2014/main" id="{A53D7BE6-9621-79D6-5F3C-ADB34C71D1EA}"/>
              </a:ext>
            </a:extLst>
          </p:cNvPr>
          <p:cNvSpPr>
            <a:spLocks noGrp="1"/>
          </p:cNvSpPr>
          <p:nvPr>
            <p:ph sz="half" idx="15"/>
          </p:nvPr>
        </p:nvSpPr>
        <p:spPr>
          <a:xfrm>
            <a:off x="838199" y="2078963"/>
            <a:ext cx="9440334" cy="4067492"/>
          </a:xfrm>
          <a:noFill/>
        </p:spPr>
        <p:txBody>
          <a:bodyPr>
            <a:normAutofit/>
          </a:bodyPr>
          <a:lstStyle/>
          <a:p>
            <a:pPr marL="285750" lvl="0" indent="-285750">
              <a:buFontTx/>
              <a:buChar char="-"/>
            </a:pPr>
            <a:r>
              <a:rPr lang="en-US" sz="3000" dirty="0"/>
              <a:t>Ease of Development (Microsoft, n.d.; Oracle, n.d.)</a:t>
            </a:r>
          </a:p>
          <a:p>
            <a:pPr marL="285750" lvl="0" indent="-285750">
              <a:buFontTx/>
              <a:buChar char="-"/>
            </a:pPr>
            <a:r>
              <a:rPr lang="en-US" sz="3000" dirty="0"/>
              <a:t>Purpose-Built Tools (IBM Cloud Team, n.d.)</a:t>
            </a:r>
          </a:p>
          <a:p>
            <a:pPr marL="285750" lvl="0" indent="-285750">
              <a:buFontTx/>
              <a:buChar char="-"/>
            </a:pPr>
            <a:r>
              <a:rPr lang="en-US" sz="3000" dirty="0"/>
              <a:t>Reduced Flexibility</a:t>
            </a:r>
          </a:p>
        </p:txBody>
      </p:sp>
    </p:spTree>
    <p:extLst>
      <p:ext uri="{BB962C8B-B14F-4D97-AF65-F5344CB8AC3E}">
        <p14:creationId xmlns:p14="http://schemas.microsoft.com/office/powerpoint/2010/main" val="1364022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2DAFB-4D4E-CBA0-6AA8-0D765A245D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B14DA-004D-2DF7-3F69-EC4006997091}"/>
              </a:ext>
            </a:extLst>
          </p:cNvPr>
          <p:cNvSpPr>
            <a:spLocks noGrp="1"/>
          </p:cNvSpPr>
          <p:nvPr>
            <p:ph type="title"/>
          </p:nvPr>
        </p:nvSpPr>
        <p:spPr>
          <a:noFill/>
        </p:spPr>
        <p:txBody>
          <a:bodyPr/>
          <a:lstStyle/>
          <a:p>
            <a:r>
              <a:rPr lang="en-US" dirty="0"/>
              <a:t>Security Implications</a:t>
            </a:r>
          </a:p>
        </p:txBody>
      </p:sp>
      <p:sp>
        <p:nvSpPr>
          <p:cNvPr id="4" name="Content Placeholder 3">
            <a:extLst>
              <a:ext uri="{FF2B5EF4-FFF2-40B4-BE49-F238E27FC236}">
                <a16:creationId xmlns:a16="http://schemas.microsoft.com/office/drawing/2014/main" id="{5F4478F8-8521-BDC6-AFC9-C840978519E5}"/>
              </a:ext>
            </a:extLst>
          </p:cNvPr>
          <p:cNvSpPr>
            <a:spLocks noGrp="1"/>
          </p:cNvSpPr>
          <p:nvPr>
            <p:ph sz="half" idx="15"/>
          </p:nvPr>
        </p:nvSpPr>
        <p:spPr>
          <a:xfrm>
            <a:off x="838199" y="2078963"/>
            <a:ext cx="9440334" cy="4067492"/>
          </a:xfrm>
          <a:noFill/>
        </p:spPr>
        <p:txBody>
          <a:bodyPr>
            <a:normAutofit/>
          </a:bodyPr>
          <a:lstStyle/>
          <a:p>
            <a:pPr marL="285750" lvl="0" indent="-285750">
              <a:buFontTx/>
              <a:buChar char="-"/>
            </a:pPr>
            <a:r>
              <a:rPr lang="en-US" sz="3000" dirty="0"/>
              <a:t>Encryption and Authentication (Microsoft Security, n.d.; Atlassian Trust Center, n.d.)</a:t>
            </a:r>
          </a:p>
          <a:p>
            <a:pPr marL="285750" lvl="0" indent="-285750">
              <a:buFontTx/>
              <a:buChar char="-"/>
            </a:pPr>
            <a:r>
              <a:rPr lang="en-US" sz="3000" dirty="0"/>
              <a:t>Data Recovery (AWS, n.d.)</a:t>
            </a:r>
          </a:p>
          <a:p>
            <a:pPr marL="285750" lvl="0" indent="-285750">
              <a:buFontTx/>
              <a:buChar char="-"/>
            </a:pPr>
            <a:r>
              <a:rPr lang="en-US" sz="3000" dirty="0"/>
              <a:t>Local and International Compliance (AWS, n.d.)</a:t>
            </a:r>
          </a:p>
        </p:txBody>
      </p:sp>
    </p:spTree>
    <p:extLst>
      <p:ext uri="{BB962C8B-B14F-4D97-AF65-F5344CB8AC3E}">
        <p14:creationId xmlns:p14="http://schemas.microsoft.com/office/powerpoint/2010/main" val="3398837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69C33-FF2C-2126-E071-F121575AE8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2668BE-3C5B-F4CC-79C3-2F06E7955A18}"/>
              </a:ext>
            </a:extLst>
          </p:cNvPr>
          <p:cNvSpPr>
            <a:spLocks noGrp="1"/>
          </p:cNvSpPr>
          <p:nvPr>
            <p:ph type="title"/>
          </p:nvPr>
        </p:nvSpPr>
        <p:spPr>
          <a:noFill/>
        </p:spPr>
        <p:txBody>
          <a:bodyPr/>
          <a:lstStyle/>
          <a:p>
            <a:r>
              <a:rPr lang="en-US" dirty="0"/>
              <a:t>Required Steps</a:t>
            </a:r>
          </a:p>
        </p:txBody>
      </p:sp>
      <p:sp>
        <p:nvSpPr>
          <p:cNvPr id="4" name="Content Placeholder 3">
            <a:extLst>
              <a:ext uri="{FF2B5EF4-FFF2-40B4-BE49-F238E27FC236}">
                <a16:creationId xmlns:a16="http://schemas.microsoft.com/office/drawing/2014/main" id="{3B71D435-4BCF-89DE-64BE-FC886394E801}"/>
              </a:ext>
            </a:extLst>
          </p:cNvPr>
          <p:cNvSpPr>
            <a:spLocks noGrp="1"/>
          </p:cNvSpPr>
          <p:nvPr>
            <p:ph sz="half" idx="15"/>
          </p:nvPr>
        </p:nvSpPr>
        <p:spPr>
          <a:xfrm>
            <a:off x="838199" y="2078963"/>
            <a:ext cx="9440334" cy="4067492"/>
          </a:xfrm>
          <a:noFill/>
        </p:spPr>
        <p:txBody>
          <a:bodyPr>
            <a:normAutofit/>
          </a:bodyPr>
          <a:lstStyle/>
          <a:p>
            <a:pPr marL="285750" lvl="0" indent="-285750">
              <a:buFontTx/>
              <a:buChar char="-"/>
            </a:pPr>
            <a:r>
              <a:rPr lang="en-US" sz="3000" dirty="0"/>
              <a:t>Identify Existing Architecture (Oracle, 2021)</a:t>
            </a:r>
          </a:p>
          <a:p>
            <a:pPr marL="285750" lvl="0" indent="-285750">
              <a:buFontTx/>
              <a:buChar char="-"/>
            </a:pPr>
            <a:r>
              <a:rPr lang="en-US" sz="3000" dirty="0"/>
              <a:t>Move the Database (AWS, n.d.)</a:t>
            </a:r>
          </a:p>
          <a:p>
            <a:pPr marL="285750" lvl="0" indent="-285750">
              <a:buFontTx/>
              <a:buChar char="-"/>
            </a:pPr>
            <a:r>
              <a:rPr lang="en-US" sz="3000" dirty="0"/>
              <a:t>Update the Database (AWS, n.d.; Oracle, 2021)</a:t>
            </a:r>
          </a:p>
        </p:txBody>
      </p:sp>
    </p:spTree>
    <p:extLst>
      <p:ext uri="{BB962C8B-B14F-4D97-AF65-F5344CB8AC3E}">
        <p14:creationId xmlns:p14="http://schemas.microsoft.com/office/powerpoint/2010/main" val="839455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5240D-3958-C3FF-FCE5-D8472D4908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554C6A-54A9-603B-1338-4F310CD27203}"/>
              </a:ext>
            </a:extLst>
          </p:cNvPr>
          <p:cNvSpPr>
            <a:spLocks noGrp="1"/>
          </p:cNvSpPr>
          <p:nvPr>
            <p:ph type="title"/>
          </p:nvPr>
        </p:nvSpPr>
        <p:spPr>
          <a:noFill/>
        </p:spPr>
        <p:txBody>
          <a:bodyPr/>
          <a:lstStyle/>
          <a:p>
            <a:r>
              <a:rPr lang="en-US" dirty="0"/>
              <a:t>References</a:t>
            </a:r>
          </a:p>
        </p:txBody>
      </p:sp>
      <p:sp>
        <p:nvSpPr>
          <p:cNvPr id="4" name="Content Placeholder 3">
            <a:extLst>
              <a:ext uri="{FF2B5EF4-FFF2-40B4-BE49-F238E27FC236}">
                <a16:creationId xmlns:a16="http://schemas.microsoft.com/office/drawing/2014/main" id="{CF6F30F5-F059-F206-4D79-26B154140E0B}"/>
              </a:ext>
            </a:extLst>
          </p:cNvPr>
          <p:cNvSpPr>
            <a:spLocks noGrp="1"/>
          </p:cNvSpPr>
          <p:nvPr>
            <p:ph sz="half" idx="15"/>
          </p:nvPr>
        </p:nvSpPr>
        <p:spPr>
          <a:xfrm>
            <a:off x="838199" y="2078963"/>
            <a:ext cx="9440334" cy="4067492"/>
          </a:xfrm>
          <a:noFill/>
        </p:spPr>
        <p:txBody>
          <a:bodyPr>
            <a:noAutofit/>
          </a:bodyPr>
          <a:lstStyle/>
          <a:p>
            <a:pPr lvl="0">
              <a:buFont typeface="Arial" panose="020B0604020202020204" pitchFamily="34" charset="0"/>
              <a:buChar char="•"/>
            </a:pPr>
            <a:r>
              <a:rPr lang="en-US" sz="2800" dirty="0"/>
              <a:t>Atlassian Trust Center. (n.d.). </a:t>
            </a:r>
            <a:r>
              <a:rPr lang="en-US" sz="2800" i="1" dirty="0"/>
              <a:t>Security practices</a:t>
            </a:r>
            <a:r>
              <a:rPr lang="en-US" sz="2800" dirty="0"/>
              <a:t>. Atlassian. </a:t>
            </a:r>
            <a:r>
              <a:rPr lang="en-US" sz="2800" u="sng" dirty="0">
                <a:hlinkClick r:id="rId3"/>
              </a:rPr>
              <a:t>https://www.atlassian.com/trust/security/security-practices#our-approach</a:t>
            </a:r>
            <a:endParaRPr lang="en-US" sz="2800" dirty="0"/>
          </a:p>
          <a:p>
            <a:pPr lvl="0">
              <a:buFont typeface="Arial" panose="020B0604020202020204" pitchFamily="34" charset="0"/>
              <a:buChar char="•"/>
            </a:pPr>
            <a:r>
              <a:rPr lang="en-US" sz="2800" dirty="0"/>
              <a:t>AWS. (n.d.). </a:t>
            </a:r>
            <a:r>
              <a:rPr lang="en-US" sz="2800" i="1" dirty="0"/>
              <a:t>What is Cloud Data Security?</a:t>
            </a:r>
            <a:r>
              <a:rPr lang="en-US" sz="2800" dirty="0"/>
              <a:t> AWS. </a:t>
            </a:r>
            <a:r>
              <a:rPr lang="en-US" sz="2800" u="sng" dirty="0">
                <a:hlinkClick r:id="rId4"/>
              </a:rPr>
              <a:t>https://aws.amazon.com/what-is/cloud-data-security/</a:t>
            </a:r>
            <a:endParaRPr lang="en-US" sz="2800" dirty="0"/>
          </a:p>
          <a:p>
            <a:pPr lvl="0">
              <a:buFont typeface="Arial" panose="020B0604020202020204" pitchFamily="34" charset="0"/>
              <a:buChar char="•"/>
            </a:pPr>
            <a:r>
              <a:rPr lang="en-US" sz="2800" dirty="0"/>
              <a:t>AWS. (n.d.). </a:t>
            </a:r>
            <a:r>
              <a:rPr lang="en-US" sz="2800" i="1" dirty="0"/>
              <a:t>What is Cloud Migration?</a:t>
            </a:r>
            <a:r>
              <a:rPr lang="en-US" sz="2800" dirty="0"/>
              <a:t> AWS. </a:t>
            </a:r>
            <a:r>
              <a:rPr lang="en-US" sz="2800" u="sng" dirty="0">
                <a:hlinkClick r:id="rId5"/>
              </a:rPr>
              <a:t>https://aws.amazon.com/what-is/cloud-migration/</a:t>
            </a:r>
            <a:endParaRPr lang="en-US" sz="2800" dirty="0"/>
          </a:p>
        </p:txBody>
      </p:sp>
    </p:spTree>
    <p:extLst>
      <p:ext uri="{BB962C8B-B14F-4D97-AF65-F5344CB8AC3E}">
        <p14:creationId xmlns:p14="http://schemas.microsoft.com/office/powerpoint/2010/main" val="35866539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AC73-3624-F09E-7B21-1F9C0F596B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764991-267A-81CE-217D-D15E449B0F15}"/>
              </a:ext>
            </a:extLst>
          </p:cNvPr>
          <p:cNvSpPr>
            <a:spLocks noGrp="1"/>
          </p:cNvSpPr>
          <p:nvPr>
            <p:ph type="title"/>
          </p:nvPr>
        </p:nvSpPr>
        <p:spPr>
          <a:noFill/>
        </p:spPr>
        <p:txBody>
          <a:bodyPr/>
          <a:lstStyle/>
          <a:p>
            <a:r>
              <a:rPr lang="en-US" dirty="0"/>
              <a:t>References</a:t>
            </a:r>
          </a:p>
        </p:txBody>
      </p:sp>
      <p:sp>
        <p:nvSpPr>
          <p:cNvPr id="4" name="Content Placeholder 3">
            <a:extLst>
              <a:ext uri="{FF2B5EF4-FFF2-40B4-BE49-F238E27FC236}">
                <a16:creationId xmlns:a16="http://schemas.microsoft.com/office/drawing/2014/main" id="{155D0826-AC94-0073-25B5-60E2A68883FA}"/>
              </a:ext>
            </a:extLst>
          </p:cNvPr>
          <p:cNvSpPr>
            <a:spLocks noGrp="1"/>
          </p:cNvSpPr>
          <p:nvPr>
            <p:ph sz="half" idx="15"/>
          </p:nvPr>
        </p:nvSpPr>
        <p:spPr>
          <a:xfrm>
            <a:off x="838199" y="2078963"/>
            <a:ext cx="9440334" cy="4067492"/>
          </a:xfrm>
          <a:noFill/>
        </p:spPr>
        <p:txBody>
          <a:bodyPr>
            <a:noAutofit/>
          </a:bodyPr>
          <a:lstStyle/>
          <a:p>
            <a:pPr lvl="0">
              <a:buFont typeface="Arial" panose="020B0604020202020204" pitchFamily="34" charset="0"/>
              <a:buChar char="•"/>
            </a:pPr>
            <a:r>
              <a:rPr lang="en-US" sz="2800" dirty="0"/>
              <a:t>AWS Whitepaper. (2024, August 27). </a:t>
            </a:r>
            <a:r>
              <a:rPr lang="en-US" sz="2800" i="1" dirty="0"/>
              <a:t>Six advantages of cloud computing</a:t>
            </a:r>
            <a:r>
              <a:rPr lang="en-US" sz="2800" dirty="0"/>
              <a:t>. AWS. </a:t>
            </a:r>
            <a:r>
              <a:rPr lang="en-US" sz="2800" u="sng" dirty="0">
                <a:hlinkClick r:id="rId3"/>
              </a:rPr>
              <a:t>https://docs.aws.amazon.com/pdfs/whitepapers/latest/aws-overview/aws-overview.pdf#six-advantages-of-cloud-computing</a:t>
            </a:r>
            <a:endParaRPr lang="en-US" sz="2800" dirty="0"/>
          </a:p>
          <a:p>
            <a:pPr lvl="0">
              <a:buFont typeface="Arial" panose="020B0604020202020204" pitchFamily="34" charset="0"/>
              <a:buChar char="•"/>
            </a:pPr>
            <a:r>
              <a:rPr lang="en-US" sz="2800" dirty="0"/>
              <a:t>Bogusch, K. (2024, January 24). </a:t>
            </a:r>
            <a:r>
              <a:rPr lang="en-US" sz="2800" i="1" dirty="0"/>
              <a:t>Cloud Computing Costs in 2024</a:t>
            </a:r>
            <a:r>
              <a:rPr lang="en-US" sz="2800" dirty="0"/>
              <a:t>. Oracle. </a:t>
            </a:r>
            <a:r>
              <a:rPr lang="en-US" sz="2800" u="sng" dirty="0">
                <a:hlinkClick r:id="rId4"/>
              </a:rPr>
              <a:t>https://www.oracle.com/cloud/cloud-computing-cost/</a:t>
            </a:r>
            <a:endParaRPr lang="en-US" sz="2800" dirty="0"/>
          </a:p>
          <a:p>
            <a:pPr lvl="0">
              <a:buFont typeface="Arial" panose="020B0604020202020204" pitchFamily="34" charset="0"/>
              <a:buChar char="•"/>
            </a:pPr>
            <a:r>
              <a:rPr lang="en-US" sz="2800" dirty="0"/>
              <a:t>Chen, M. (2023, March 20). </a:t>
            </a:r>
            <a:r>
              <a:rPr lang="en-US" sz="2800" i="1" dirty="0"/>
              <a:t>Why Migrate to the Cloud: 11 Benefits to Your Business</a:t>
            </a:r>
            <a:r>
              <a:rPr lang="en-US" sz="2800" dirty="0"/>
              <a:t>. Oracle. </a:t>
            </a:r>
            <a:r>
              <a:rPr lang="en-US" sz="2800" u="sng" dirty="0">
                <a:hlinkClick r:id="rId5"/>
              </a:rPr>
              <a:t>https://www.oracle.com/cloud/why-move-to-cloud/</a:t>
            </a:r>
            <a:endParaRPr lang="en-US" sz="2800" dirty="0"/>
          </a:p>
        </p:txBody>
      </p:sp>
    </p:spTree>
    <p:extLst>
      <p:ext uri="{BB962C8B-B14F-4D97-AF65-F5344CB8AC3E}">
        <p14:creationId xmlns:p14="http://schemas.microsoft.com/office/powerpoint/2010/main" val="3336878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3F4C1-A2FB-DCAD-0AD7-6C1DE4372A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407D85-AACF-C545-31FB-197DDB0030D3}"/>
              </a:ext>
            </a:extLst>
          </p:cNvPr>
          <p:cNvSpPr>
            <a:spLocks noGrp="1"/>
          </p:cNvSpPr>
          <p:nvPr>
            <p:ph type="title"/>
          </p:nvPr>
        </p:nvSpPr>
        <p:spPr>
          <a:noFill/>
        </p:spPr>
        <p:txBody>
          <a:bodyPr/>
          <a:lstStyle/>
          <a:p>
            <a:r>
              <a:rPr lang="en-US" dirty="0"/>
              <a:t>References</a:t>
            </a:r>
          </a:p>
        </p:txBody>
      </p:sp>
      <p:sp>
        <p:nvSpPr>
          <p:cNvPr id="4" name="Content Placeholder 3">
            <a:extLst>
              <a:ext uri="{FF2B5EF4-FFF2-40B4-BE49-F238E27FC236}">
                <a16:creationId xmlns:a16="http://schemas.microsoft.com/office/drawing/2014/main" id="{EF6ABAA4-9B43-FD01-78E4-1013405D4672}"/>
              </a:ext>
            </a:extLst>
          </p:cNvPr>
          <p:cNvSpPr>
            <a:spLocks noGrp="1"/>
          </p:cNvSpPr>
          <p:nvPr>
            <p:ph sz="half" idx="15"/>
          </p:nvPr>
        </p:nvSpPr>
        <p:spPr>
          <a:xfrm>
            <a:off x="838199" y="2078963"/>
            <a:ext cx="9440334" cy="4067492"/>
          </a:xfrm>
          <a:noFill/>
        </p:spPr>
        <p:txBody>
          <a:bodyPr>
            <a:noAutofit/>
          </a:bodyPr>
          <a:lstStyle/>
          <a:p>
            <a:pPr lvl="0">
              <a:buFont typeface="Arial" panose="020B0604020202020204" pitchFamily="34" charset="0"/>
              <a:buChar char="•"/>
            </a:pPr>
            <a:r>
              <a:rPr lang="en-US" sz="2600" dirty="0"/>
              <a:t>Diamond, P. (2020, September 25). </a:t>
            </a:r>
            <a:r>
              <a:rPr lang="en-US" sz="2600" i="1" dirty="0"/>
              <a:t>Cloud storage vs. on-premises servers: 9 things to keep in mind</a:t>
            </a:r>
            <a:r>
              <a:rPr lang="en-US" sz="2600" dirty="0"/>
              <a:t>. Microsoft Business Insights and Ideas. </a:t>
            </a:r>
            <a:r>
              <a:rPr lang="en-US" sz="2600" u="sng" dirty="0">
                <a:hlinkClick r:id="rId3"/>
              </a:rPr>
              <a:t>https://www.microsoft.com/en-us/microsoft-365/business-insights-ideas/resources/cloud-storage-vs-on-premises-servers</a:t>
            </a:r>
            <a:endParaRPr lang="en-US" sz="2600" dirty="0"/>
          </a:p>
          <a:p>
            <a:pPr lvl="0">
              <a:buFont typeface="Arial" panose="020B0604020202020204" pitchFamily="34" charset="0"/>
              <a:buChar char="•"/>
            </a:pPr>
            <a:r>
              <a:rPr lang="en-US" sz="2600" dirty="0"/>
              <a:t>IBM. (2025, October 07). </a:t>
            </a:r>
            <a:r>
              <a:rPr lang="en-US" sz="2600" i="1" dirty="0"/>
              <a:t>Improve concurrency by avoiding lock waits</a:t>
            </a:r>
            <a:r>
              <a:rPr lang="en-US" sz="2600" dirty="0"/>
              <a:t>. IBM. </a:t>
            </a:r>
            <a:r>
              <a:rPr lang="en-US" sz="2600" u="sng" dirty="0">
                <a:hlinkClick r:id="rId4"/>
              </a:rPr>
              <a:t>https://www.ibm.com/docs/en/i/7.6.0?topic=techniques-improve-concurrency</a:t>
            </a:r>
            <a:endParaRPr lang="en-US" sz="2600" dirty="0"/>
          </a:p>
          <a:p>
            <a:pPr lvl="0">
              <a:buFont typeface="Arial" panose="020B0604020202020204" pitchFamily="34" charset="0"/>
              <a:buChar char="•"/>
            </a:pPr>
            <a:r>
              <a:rPr lang="en-US" sz="2600" dirty="0"/>
              <a:t>IBM. (2025, 10 07). </a:t>
            </a:r>
            <a:r>
              <a:rPr lang="en-US" sz="2600" i="1" dirty="0"/>
              <a:t>Sources of Join Query Performance Problems</a:t>
            </a:r>
            <a:r>
              <a:rPr lang="en-US" sz="2600" dirty="0"/>
              <a:t>. IBM. </a:t>
            </a:r>
            <a:r>
              <a:rPr lang="en-US" sz="2600" u="sng" dirty="0">
                <a:hlinkClick r:id="rId5"/>
              </a:rPr>
              <a:t>https://www.ibm.com/docs/en/i/7.6.0?topic=optimization-join-performance-problems</a:t>
            </a:r>
            <a:endParaRPr lang="en-US" sz="2600" dirty="0"/>
          </a:p>
        </p:txBody>
      </p:sp>
    </p:spTree>
    <p:extLst>
      <p:ext uri="{BB962C8B-B14F-4D97-AF65-F5344CB8AC3E}">
        <p14:creationId xmlns:p14="http://schemas.microsoft.com/office/powerpoint/2010/main" val="3171490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76FB3-B4C0-CA09-6202-7A5DD6BDEE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D91F8C-8AFD-0128-9791-147FF9180B12}"/>
              </a:ext>
            </a:extLst>
          </p:cNvPr>
          <p:cNvSpPr>
            <a:spLocks noGrp="1"/>
          </p:cNvSpPr>
          <p:nvPr>
            <p:ph type="title"/>
          </p:nvPr>
        </p:nvSpPr>
        <p:spPr>
          <a:noFill/>
        </p:spPr>
        <p:txBody>
          <a:bodyPr/>
          <a:lstStyle/>
          <a:p>
            <a:r>
              <a:rPr lang="en-US" dirty="0"/>
              <a:t>References</a:t>
            </a:r>
          </a:p>
        </p:txBody>
      </p:sp>
      <p:sp>
        <p:nvSpPr>
          <p:cNvPr id="4" name="Content Placeholder 3">
            <a:extLst>
              <a:ext uri="{FF2B5EF4-FFF2-40B4-BE49-F238E27FC236}">
                <a16:creationId xmlns:a16="http://schemas.microsoft.com/office/drawing/2014/main" id="{414B606C-F43F-07BD-1ABE-B18AFF1F392D}"/>
              </a:ext>
            </a:extLst>
          </p:cNvPr>
          <p:cNvSpPr>
            <a:spLocks noGrp="1"/>
          </p:cNvSpPr>
          <p:nvPr>
            <p:ph sz="half" idx="15"/>
          </p:nvPr>
        </p:nvSpPr>
        <p:spPr>
          <a:xfrm>
            <a:off x="838199" y="2078963"/>
            <a:ext cx="9440334" cy="4067492"/>
          </a:xfrm>
          <a:noFill/>
        </p:spPr>
        <p:txBody>
          <a:bodyPr>
            <a:noAutofit/>
          </a:bodyPr>
          <a:lstStyle/>
          <a:p>
            <a:pPr lvl="0">
              <a:buFont typeface="Arial" panose="020B0604020202020204" pitchFamily="34" charset="0"/>
              <a:buChar char="•"/>
            </a:pPr>
            <a:r>
              <a:rPr lang="en-US" sz="2800" dirty="0"/>
              <a:t>IBM. (2026, January 21). </a:t>
            </a:r>
            <a:r>
              <a:rPr lang="en-US" sz="2800" i="1" dirty="0"/>
              <a:t>Example of a Join with indexes</a:t>
            </a:r>
            <a:r>
              <a:rPr lang="en-US" sz="2800" dirty="0"/>
              <a:t>. IBM. </a:t>
            </a:r>
            <a:r>
              <a:rPr lang="en-US" sz="2800" u="sng" dirty="0">
                <a:hlinkClick r:id="rId3"/>
              </a:rPr>
              <a:t>https://www.ibm.com/docs/en/informix-servers/15.0.x?topic=execution-example-join-indexes</a:t>
            </a:r>
            <a:endParaRPr lang="en-US" sz="2800" dirty="0"/>
          </a:p>
          <a:p>
            <a:pPr lvl="0">
              <a:buFont typeface="Arial" panose="020B0604020202020204" pitchFamily="34" charset="0"/>
              <a:buChar char="•"/>
            </a:pPr>
            <a:r>
              <a:rPr lang="en-US" sz="2800" dirty="0"/>
              <a:t>IBM. (2026, January 07). </a:t>
            </a:r>
            <a:r>
              <a:rPr lang="en-US" sz="2800" i="1" dirty="0"/>
              <a:t>Writing efficient subqueries</a:t>
            </a:r>
            <a:r>
              <a:rPr lang="en-US" sz="2800" dirty="0"/>
              <a:t>. IBM. </a:t>
            </a:r>
            <a:r>
              <a:rPr lang="en-US" sz="2800" u="sng" dirty="0">
                <a:hlinkClick r:id="rId4"/>
              </a:rPr>
              <a:t>https://www.ibm.com/docs/en/db2-for-zos/13.0.0?topic=queries-writing-efficient-subqueries</a:t>
            </a:r>
            <a:endParaRPr lang="en-US" sz="2800" dirty="0"/>
          </a:p>
          <a:p>
            <a:pPr lvl="0">
              <a:buFont typeface="Arial" panose="020B0604020202020204" pitchFamily="34" charset="0"/>
              <a:buChar char="•"/>
            </a:pPr>
            <a:r>
              <a:rPr lang="en-US" sz="2800" dirty="0"/>
              <a:t>IBM Cloud Team. (n.d.). </a:t>
            </a:r>
            <a:r>
              <a:rPr lang="en-US" sz="2800" i="1" dirty="0"/>
              <a:t>Top 5 advantages of software as a service (SaaS)</a:t>
            </a:r>
            <a:r>
              <a:rPr lang="en-US" sz="2800" dirty="0"/>
              <a:t>. IBM. </a:t>
            </a:r>
            <a:r>
              <a:rPr lang="en-US" sz="2800" u="sng" dirty="0">
                <a:hlinkClick r:id="rId5"/>
              </a:rPr>
              <a:t>https://www.ibm.com/think/insights/software-as-a-service-advantages</a:t>
            </a:r>
            <a:endParaRPr lang="en-US" sz="2800" dirty="0"/>
          </a:p>
        </p:txBody>
      </p:sp>
    </p:spTree>
    <p:extLst>
      <p:ext uri="{BB962C8B-B14F-4D97-AF65-F5344CB8AC3E}">
        <p14:creationId xmlns:p14="http://schemas.microsoft.com/office/powerpoint/2010/main" val="2277270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38057-4E5E-28DD-1ABE-6AE87BACC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FFA16-C0E1-5321-24C6-422DFF11C92B}"/>
              </a:ext>
            </a:extLst>
          </p:cNvPr>
          <p:cNvSpPr>
            <a:spLocks noGrp="1"/>
          </p:cNvSpPr>
          <p:nvPr>
            <p:ph type="title"/>
          </p:nvPr>
        </p:nvSpPr>
        <p:spPr>
          <a:noFill/>
        </p:spPr>
        <p:txBody>
          <a:bodyPr/>
          <a:lstStyle/>
          <a:p>
            <a:r>
              <a:rPr lang="en-US" dirty="0"/>
              <a:t>References</a:t>
            </a:r>
          </a:p>
        </p:txBody>
      </p:sp>
      <p:sp>
        <p:nvSpPr>
          <p:cNvPr id="4" name="Content Placeholder 3">
            <a:extLst>
              <a:ext uri="{FF2B5EF4-FFF2-40B4-BE49-F238E27FC236}">
                <a16:creationId xmlns:a16="http://schemas.microsoft.com/office/drawing/2014/main" id="{315F21AD-81B5-2D11-390F-8A96C37753DD}"/>
              </a:ext>
            </a:extLst>
          </p:cNvPr>
          <p:cNvSpPr>
            <a:spLocks noGrp="1"/>
          </p:cNvSpPr>
          <p:nvPr>
            <p:ph sz="half" idx="15"/>
          </p:nvPr>
        </p:nvSpPr>
        <p:spPr>
          <a:xfrm>
            <a:off x="838199" y="2078963"/>
            <a:ext cx="9440334" cy="4067492"/>
          </a:xfrm>
          <a:noFill/>
        </p:spPr>
        <p:txBody>
          <a:bodyPr>
            <a:noAutofit/>
          </a:bodyPr>
          <a:lstStyle/>
          <a:p>
            <a:pPr lvl="0">
              <a:buFont typeface="Arial" panose="020B0604020202020204" pitchFamily="34" charset="0"/>
              <a:buChar char="•"/>
            </a:pPr>
            <a:r>
              <a:rPr lang="en-US" sz="2600" dirty="0"/>
              <a:t>Intel. (n.d.). </a:t>
            </a:r>
            <a:r>
              <a:rPr lang="en-US" sz="2600" i="1" dirty="0"/>
              <a:t>What Are Cloud Deployment Models?</a:t>
            </a:r>
            <a:r>
              <a:rPr lang="en-US" sz="2600" dirty="0"/>
              <a:t> Intel. </a:t>
            </a:r>
            <a:r>
              <a:rPr lang="en-US" sz="2600" u="sng" dirty="0">
                <a:hlinkClick r:id="rId3"/>
              </a:rPr>
              <a:t>https://www.intel.com/content/www/us/en/learn/what-are-cloud-deployment-models.html</a:t>
            </a:r>
            <a:endParaRPr lang="en-US" sz="2600" dirty="0"/>
          </a:p>
          <a:p>
            <a:pPr lvl="0">
              <a:buFont typeface="Arial" panose="020B0604020202020204" pitchFamily="34" charset="0"/>
              <a:buChar char="•"/>
            </a:pPr>
            <a:r>
              <a:rPr lang="en-US" sz="2600" dirty="0"/>
              <a:t>Microsoft. (n.d.). </a:t>
            </a:r>
            <a:r>
              <a:rPr lang="en-US" sz="2600" i="1" dirty="0"/>
              <a:t>Benefits of Cloud Migration</a:t>
            </a:r>
            <a:r>
              <a:rPr lang="en-US" sz="2600" dirty="0"/>
              <a:t>. Microsoft Azure. </a:t>
            </a:r>
            <a:r>
              <a:rPr lang="en-US" sz="2600" u="sng" dirty="0">
                <a:hlinkClick r:id="rId4"/>
              </a:rPr>
              <a:t>https://azure.microsoft.com/en-us/resources/cloud-computing-dictionary/benefits-of-cloud-migration</a:t>
            </a:r>
            <a:endParaRPr lang="en-US" sz="2600" dirty="0"/>
          </a:p>
          <a:p>
            <a:pPr>
              <a:buFont typeface="Arial" panose="020B0604020202020204" pitchFamily="34" charset="0"/>
              <a:buChar char="•"/>
            </a:pPr>
            <a:r>
              <a:rPr lang="en-US" sz="2600" dirty="0"/>
              <a:t>Microsoft Learn. (2025, August 19). </a:t>
            </a:r>
            <a:r>
              <a:rPr lang="en-US" sz="2600" i="1" dirty="0"/>
              <a:t>Troubleshoot queries that seem to run endlessly in SQL Server</a:t>
            </a:r>
            <a:r>
              <a:rPr lang="en-US" sz="2600" dirty="0"/>
              <a:t>. Microsoft Learn. </a:t>
            </a:r>
            <a:r>
              <a:rPr lang="en-US" sz="2600" u="sng" dirty="0">
                <a:hlinkClick r:id="rId5"/>
              </a:rPr>
              <a:t>https://learn.microsoft.com/en-us/troubleshoot/sql/database-engine/performance/troubleshoot-never-ending-query?tabs=2008-2014</a:t>
            </a:r>
            <a:endParaRPr lang="en-US" sz="2600" dirty="0"/>
          </a:p>
        </p:txBody>
      </p:sp>
    </p:spTree>
    <p:extLst>
      <p:ext uri="{BB962C8B-B14F-4D97-AF65-F5344CB8AC3E}">
        <p14:creationId xmlns:p14="http://schemas.microsoft.com/office/powerpoint/2010/main" val="3602742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9EAB-8132-6ECA-F19B-6C52356933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E921C7-B2C2-55E9-E4E6-927FB5F9CA37}"/>
              </a:ext>
            </a:extLst>
          </p:cNvPr>
          <p:cNvSpPr>
            <a:spLocks noGrp="1"/>
          </p:cNvSpPr>
          <p:nvPr>
            <p:ph type="title"/>
          </p:nvPr>
        </p:nvSpPr>
        <p:spPr>
          <a:noFill/>
        </p:spPr>
        <p:txBody>
          <a:bodyPr/>
          <a:lstStyle/>
          <a:p>
            <a:r>
              <a:rPr lang="en-US" dirty="0"/>
              <a:t>References</a:t>
            </a:r>
          </a:p>
        </p:txBody>
      </p:sp>
      <p:sp>
        <p:nvSpPr>
          <p:cNvPr id="4" name="Content Placeholder 3">
            <a:extLst>
              <a:ext uri="{FF2B5EF4-FFF2-40B4-BE49-F238E27FC236}">
                <a16:creationId xmlns:a16="http://schemas.microsoft.com/office/drawing/2014/main" id="{6E7B01D7-F9D1-D48A-48E1-DE5E05262E52}"/>
              </a:ext>
            </a:extLst>
          </p:cNvPr>
          <p:cNvSpPr>
            <a:spLocks noGrp="1"/>
          </p:cNvSpPr>
          <p:nvPr>
            <p:ph sz="half" idx="15"/>
          </p:nvPr>
        </p:nvSpPr>
        <p:spPr>
          <a:xfrm>
            <a:off x="838199" y="2078963"/>
            <a:ext cx="9440334" cy="4067492"/>
          </a:xfrm>
          <a:noFill/>
        </p:spPr>
        <p:txBody>
          <a:bodyPr>
            <a:noAutofit/>
          </a:bodyPr>
          <a:lstStyle/>
          <a:p>
            <a:pPr lvl="0">
              <a:buFont typeface="Arial" panose="020B0604020202020204" pitchFamily="34" charset="0"/>
              <a:buChar char="•"/>
            </a:pPr>
            <a:r>
              <a:rPr lang="en-US" sz="2600" dirty="0"/>
              <a:t>Microsoft Security. (n.d.). </a:t>
            </a:r>
            <a:r>
              <a:rPr lang="en-US" sz="2600" i="1" dirty="0"/>
              <a:t>What is Cloud Data Security?</a:t>
            </a:r>
            <a:r>
              <a:rPr lang="en-US" sz="2600" dirty="0"/>
              <a:t> Microsoft Security. </a:t>
            </a:r>
            <a:r>
              <a:rPr lang="en-US" sz="2600" u="sng" dirty="0">
                <a:hlinkClick r:id="rId3"/>
              </a:rPr>
              <a:t>https://www.microsoft.com/en-us/security/business/security-101/what-is-cloud-data-security</a:t>
            </a:r>
            <a:endParaRPr lang="en-US" sz="2600" dirty="0"/>
          </a:p>
          <a:p>
            <a:pPr lvl="0">
              <a:buFont typeface="Arial" panose="020B0604020202020204" pitchFamily="34" charset="0"/>
              <a:buChar char="•"/>
            </a:pPr>
            <a:r>
              <a:rPr lang="en-US" sz="2600" dirty="0"/>
              <a:t>Microsoft. (n.d.). </a:t>
            </a:r>
            <a:r>
              <a:rPr lang="en-US" sz="2600" i="1" dirty="0"/>
              <a:t>What is software as a service (SaaS)?</a:t>
            </a:r>
            <a:r>
              <a:rPr lang="en-US" sz="2600" dirty="0"/>
              <a:t> Microsoft Azure. </a:t>
            </a:r>
            <a:r>
              <a:rPr lang="en-US" sz="2600" u="sng" dirty="0">
                <a:hlinkClick r:id="rId4"/>
              </a:rPr>
              <a:t>https://azure.microsoft.com/en-us/resources/cloud-computing-dictionary/what-is-saas</a:t>
            </a:r>
            <a:endParaRPr lang="en-US" sz="2600" dirty="0"/>
          </a:p>
          <a:p>
            <a:pPr lvl="0">
              <a:buFont typeface="Arial" panose="020B0604020202020204" pitchFamily="34" charset="0"/>
              <a:buChar char="•"/>
            </a:pPr>
            <a:r>
              <a:rPr lang="en-US" sz="2600" dirty="0"/>
              <a:t>MongoDB. (n.d.). </a:t>
            </a:r>
            <a:r>
              <a:rPr lang="en-US" sz="2600" i="1" dirty="0"/>
              <a:t>Understanding Managed Databases: Definition and Benefits</a:t>
            </a:r>
            <a:r>
              <a:rPr lang="en-US" sz="2600" dirty="0"/>
              <a:t>. MongoDB. </a:t>
            </a:r>
            <a:r>
              <a:rPr lang="en-US" sz="2600" u="sng" dirty="0">
                <a:hlinkClick r:id="rId5"/>
              </a:rPr>
              <a:t>https://www.mongodb.com/resources/basics/databases/managed-database</a:t>
            </a:r>
            <a:endParaRPr lang="en-US" sz="2600" dirty="0"/>
          </a:p>
        </p:txBody>
      </p:sp>
    </p:spTree>
    <p:extLst>
      <p:ext uri="{BB962C8B-B14F-4D97-AF65-F5344CB8AC3E}">
        <p14:creationId xmlns:p14="http://schemas.microsoft.com/office/powerpoint/2010/main" val="42114281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309D5-B30C-918B-7416-7F69E59B33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0EDDE1-42CD-7C80-8A96-1707A81BBEFE}"/>
              </a:ext>
            </a:extLst>
          </p:cNvPr>
          <p:cNvSpPr>
            <a:spLocks noGrp="1"/>
          </p:cNvSpPr>
          <p:nvPr>
            <p:ph type="title"/>
          </p:nvPr>
        </p:nvSpPr>
        <p:spPr>
          <a:noFill/>
        </p:spPr>
        <p:txBody>
          <a:bodyPr/>
          <a:lstStyle/>
          <a:p>
            <a:r>
              <a:rPr lang="en-US" dirty="0"/>
              <a:t>References</a:t>
            </a:r>
          </a:p>
        </p:txBody>
      </p:sp>
      <p:sp>
        <p:nvSpPr>
          <p:cNvPr id="4" name="Content Placeholder 3">
            <a:extLst>
              <a:ext uri="{FF2B5EF4-FFF2-40B4-BE49-F238E27FC236}">
                <a16:creationId xmlns:a16="http://schemas.microsoft.com/office/drawing/2014/main" id="{3756DAA2-C73C-E424-97B4-5A2CDDD02FC6}"/>
              </a:ext>
            </a:extLst>
          </p:cNvPr>
          <p:cNvSpPr>
            <a:spLocks noGrp="1"/>
          </p:cNvSpPr>
          <p:nvPr>
            <p:ph sz="half" idx="15"/>
          </p:nvPr>
        </p:nvSpPr>
        <p:spPr>
          <a:xfrm>
            <a:off x="838199" y="2078963"/>
            <a:ext cx="9440334" cy="4067492"/>
          </a:xfrm>
          <a:noFill/>
        </p:spPr>
        <p:txBody>
          <a:bodyPr>
            <a:noAutofit/>
          </a:bodyPr>
          <a:lstStyle/>
          <a:p>
            <a:pPr lvl="0">
              <a:buFont typeface="Arial" panose="020B0604020202020204" pitchFamily="34" charset="0"/>
              <a:buChar char="•"/>
            </a:pPr>
            <a:r>
              <a:rPr lang="en-US" sz="2600" dirty="0"/>
              <a:t>MySQL. (2026). </a:t>
            </a:r>
            <a:r>
              <a:rPr lang="en-US" sz="2600" i="1" dirty="0"/>
              <a:t>Subqueries</a:t>
            </a:r>
            <a:r>
              <a:rPr lang="en-US" sz="2600" dirty="0"/>
              <a:t>. MySQL Documentation. </a:t>
            </a:r>
            <a:r>
              <a:rPr lang="en-US" sz="2600" u="sng" dirty="0">
                <a:hlinkClick r:id="rId3"/>
              </a:rPr>
              <a:t>https://dev.mysql.com/doc/refman/8.4/en/subqueries.html</a:t>
            </a:r>
            <a:endParaRPr lang="en-US" sz="2600" dirty="0"/>
          </a:p>
          <a:p>
            <a:pPr lvl="0">
              <a:buFont typeface="Arial" panose="020B0604020202020204" pitchFamily="34" charset="0"/>
              <a:buChar char="•"/>
            </a:pPr>
            <a:r>
              <a:rPr lang="en-US" sz="2600" dirty="0"/>
              <a:t>MySQL Documentation Team. (2026). </a:t>
            </a:r>
            <a:r>
              <a:rPr lang="en-US" sz="2600" i="1" dirty="0"/>
              <a:t>ORDER BY Optimization</a:t>
            </a:r>
            <a:r>
              <a:rPr lang="en-US" sz="2600" dirty="0"/>
              <a:t>. MySQL. </a:t>
            </a:r>
            <a:r>
              <a:rPr lang="en-US" sz="2600" u="sng" dirty="0">
                <a:hlinkClick r:id="rId4"/>
              </a:rPr>
              <a:t>https://dev.mysql.com/doc/refman/8.4/en/order-by-optimization.html</a:t>
            </a:r>
            <a:endParaRPr lang="en-US" sz="2600" dirty="0"/>
          </a:p>
          <a:p>
            <a:pPr lvl="0">
              <a:buFont typeface="Arial" panose="020B0604020202020204" pitchFamily="34" charset="0"/>
              <a:buChar char="•"/>
            </a:pPr>
            <a:r>
              <a:rPr lang="en-US" sz="2600" dirty="0"/>
              <a:t>Oracle. (2021, March 29). </a:t>
            </a:r>
            <a:r>
              <a:rPr lang="en-US" sz="2600" i="1" dirty="0"/>
              <a:t>How to Migrate a Database to the Cloud</a:t>
            </a:r>
            <a:r>
              <a:rPr lang="en-US" sz="2600" dirty="0"/>
              <a:t>. Oracle. </a:t>
            </a:r>
            <a:r>
              <a:rPr lang="en-US" sz="2600" u="sng" dirty="0">
                <a:hlinkClick r:id="rId5"/>
              </a:rPr>
              <a:t>https://www.oracle.com/database/migrate-database-to-cloud/</a:t>
            </a:r>
            <a:endParaRPr lang="en-US" sz="2600" dirty="0"/>
          </a:p>
        </p:txBody>
      </p:sp>
    </p:spTree>
    <p:extLst>
      <p:ext uri="{BB962C8B-B14F-4D97-AF65-F5344CB8AC3E}">
        <p14:creationId xmlns:p14="http://schemas.microsoft.com/office/powerpoint/2010/main" val="29428850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289F0-B348-6175-CA1C-A6BDE4BF1C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3BA857-9789-7567-7D6F-3CEC25D6CB25}"/>
              </a:ext>
            </a:extLst>
          </p:cNvPr>
          <p:cNvSpPr>
            <a:spLocks noGrp="1"/>
          </p:cNvSpPr>
          <p:nvPr>
            <p:ph type="title"/>
          </p:nvPr>
        </p:nvSpPr>
        <p:spPr>
          <a:noFill/>
        </p:spPr>
        <p:txBody>
          <a:bodyPr/>
          <a:lstStyle/>
          <a:p>
            <a:r>
              <a:rPr lang="en-US" dirty="0"/>
              <a:t>References</a:t>
            </a:r>
          </a:p>
        </p:txBody>
      </p:sp>
      <p:sp>
        <p:nvSpPr>
          <p:cNvPr id="4" name="Content Placeholder 3">
            <a:extLst>
              <a:ext uri="{FF2B5EF4-FFF2-40B4-BE49-F238E27FC236}">
                <a16:creationId xmlns:a16="http://schemas.microsoft.com/office/drawing/2014/main" id="{A3B63AD6-9B8C-946A-7A29-A841DC4AD7C3}"/>
              </a:ext>
            </a:extLst>
          </p:cNvPr>
          <p:cNvSpPr>
            <a:spLocks noGrp="1"/>
          </p:cNvSpPr>
          <p:nvPr>
            <p:ph sz="half" idx="15"/>
          </p:nvPr>
        </p:nvSpPr>
        <p:spPr>
          <a:xfrm>
            <a:off x="838199" y="2078963"/>
            <a:ext cx="9440334" cy="4067492"/>
          </a:xfrm>
          <a:noFill/>
        </p:spPr>
        <p:txBody>
          <a:bodyPr>
            <a:noAutofit/>
          </a:bodyPr>
          <a:lstStyle/>
          <a:p>
            <a:pPr lvl="0">
              <a:buFont typeface="Arial" panose="020B0604020202020204" pitchFamily="34" charset="0"/>
              <a:buChar char="•"/>
            </a:pPr>
            <a:r>
              <a:rPr lang="en-US" sz="2600" dirty="0"/>
              <a:t>Oracle. (2021, March 11). </a:t>
            </a:r>
            <a:r>
              <a:rPr lang="en-US" sz="2600" i="1" dirty="0"/>
              <a:t>What Is a Managed Database?</a:t>
            </a:r>
            <a:r>
              <a:rPr lang="en-US" sz="2600" dirty="0"/>
              <a:t> Oracle. </a:t>
            </a:r>
            <a:r>
              <a:rPr lang="en-US" sz="2600" u="sng" dirty="0">
                <a:hlinkClick r:id="rId3"/>
              </a:rPr>
              <a:t>https://www.oracle.com/autonomous-database/what-is-managed-database/</a:t>
            </a:r>
            <a:endParaRPr lang="en-US" sz="2600" dirty="0"/>
          </a:p>
          <a:p>
            <a:pPr lvl="0">
              <a:buFont typeface="Arial" panose="020B0604020202020204" pitchFamily="34" charset="0"/>
              <a:buChar char="•"/>
            </a:pPr>
            <a:r>
              <a:rPr lang="en-US" sz="2600" dirty="0"/>
              <a:t>Oracle. (n.d.). </a:t>
            </a:r>
            <a:r>
              <a:rPr lang="en-US" sz="2600" i="1" dirty="0"/>
              <a:t>What is SaaS (Software as a Service)?</a:t>
            </a:r>
            <a:r>
              <a:rPr lang="en-US" sz="2600" dirty="0"/>
              <a:t> Oracle. </a:t>
            </a:r>
            <a:r>
              <a:rPr lang="en-US" sz="2600" u="sng" dirty="0">
                <a:hlinkClick r:id="rId4"/>
              </a:rPr>
              <a:t>https://www.oracle.com/applications/what-is-saas/</a:t>
            </a:r>
            <a:endParaRPr lang="en-US" sz="2600" dirty="0"/>
          </a:p>
          <a:p>
            <a:pPr>
              <a:buFont typeface="Arial" panose="020B0604020202020204" pitchFamily="34" charset="0"/>
              <a:buChar char="•"/>
            </a:pPr>
            <a:r>
              <a:rPr lang="en-US" sz="2600" dirty="0"/>
              <a:t>Pollack, E. (2021, January 25). </a:t>
            </a:r>
            <a:r>
              <a:rPr lang="en-US" sz="2600" i="1" dirty="0"/>
              <a:t>SQL Server triggers: The good and the scary</a:t>
            </a:r>
            <a:r>
              <a:rPr lang="en-US" sz="2600" dirty="0"/>
              <a:t>. Redgate. </a:t>
            </a:r>
            <a:r>
              <a:rPr lang="en-US" sz="2600" u="sng" dirty="0">
                <a:hlinkClick r:id="rId5"/>
              </a:rPr>
              <a:t>https://www.red-gate.com/simple-talk/databases/sql-server/database-administration-sql-server/sql-server-triggers-good-scary/#when-are-triggers-dangerous</a:t>
            </a:r>
            <a:endParaRPr lang="en-US" sz="2600" dirty="0"/>
          </a:p>
        </p:txBody>
      </p:sp>
    </p:spTree>
    <p:extLst>
      <p:ext uri="{BB962C8B-B14F-4D97-AF65-F5344CB8AC3E}">
        <p14:creationId xmlns:p14="http://schemas.microsoft.com/office/powerpoint/2010/main" val="31612437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D7199-7A00-86D7-EEAA-632FCF7F06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19D828-23AB-FFFC-448F-F4037D1ABE28}"/>
              </a:ext>
            </a:extLst>
          </p:cNvPr>
          <p:cNvSpPr>
            <a:spLocks noGrp="1"/>
          </p:cNvSpPr>
          <p:nvPr>
            <p:ph type="title"/>
          </p:nvPr>
        </p:nvSpPr>
        <p:spPr>
          <a:noFill/>
        </p:spPr>
        <p:txBody>
          <a:bodyPr/>
          <a:lstStyle/>
          <a:p>
            <a:r>
              <a:rPr lang="en-US" dirty="0"/>
              <a:t>References</a:t>
            </a:r>
          </a:p>
        </p:txBody>
      </p:sp>
      <p:sp>
        <p:nvSpPr>
          <p:cNvPr id="4" name="Content Placeholder 3">
            <a:extLst>
              <a:ext uri="{FF2B5EF4-FFF2-40B4-BE49-F238E27FC236}">
                <a16:creationId xmlns:a16="http://schemas.microsoft.com/office/drawing/2014/main" id="{12459DC4-4236-D7D1-FA02-CCCC4DF389DF}"/>
              </a:ext>
            </a:extLst>
          </p:cNvPr>
          <p:cNvSpPr>
            <a:spLocks noGrp="1"/>
          </p:cNvSpPr>
          <p:nvPr>
            <p:ph sz="half" idx="15"/>
          </p:nvPr>
        </p:nvSpPr>
        <p:spPr>
          <a:xfrm>
            <a:off x="838199" y="2078963"/>
            <a:ext cx="9440334" cy="4067492"/>
          </a:xfrm>
          <a:noFill/>
        </p:spPr>
        <p:txBody>
          <a:bodyPr>
            <a:noAutofit/>
          </a:bodyPr>
          <a:lstStyle/>
          <a:p>
            <a:pPr lvl="0">
              <a:buFont typeface="Arial" panose="020B0604020202020204" pitchFamily="34" charset="0"/>
              <a:buChar char="•"/>
            </a:pPr>
            <a:r>
              <a:rPr lang="en-US" sz="2600" dirty="0" err="1"/>
              <a:t>Teory</a:t>
            </a:r>
            <a:r>
              <a:rPr lang="en-US" sz="2600" dirty="0"/>
              <a:t>, T., Lightstone, S., Nadeau, T., &amp; Jagadish, H. (2011, March 14). </a:t>
            </a:r>
            <a:r>
              <a:rPr lang="en-US" sz="2600" i="1" dirty="0"/>
              <a:t>Normalization</a:t>
            </a:r>
            <a:r>
              <a:rPr lang="en-US" sz="2600" dirty="0"/>
              <a:t>. Database Modeling and Design (Fifth Edition). </a:t>
            </a:r>
            <a:r>
              <a:rPr lang="en-US" sz="2600" u="sng" dirty="0">
                <a:hlinkClick r:id="rId3"/>
              </a:rPr>
              <a:t>https://www.sciencedirect.com/science/chapter/monograph/pii/B9780123820204000100</a:t>
            </a:r>
            <a:endParaRPr lang="en-US" sz="2600" dirty="0"/>
          </a:p>
          <a:p>
            <a:pPr lvl="0">
              <a:buFont typeface="Arial" panose="020B0604020202020204" pitchFamily="34" charset="0"/>
              <a:buChar char="•"/>
            </a:pPr>
            <a:r>
              <a:rPr lang="en-US" sz="2600" dirty="0"/>
              <a:t>Wang, M., &amp; Chan, R. K. (2004, November 28). </a:t>
            </a:r>
            <a:r>
              <a:rPr lang="en-US" sz="2600" i="1" dirty="0"/>
              <a:t>Database Development Process</a:t>
            </a:r>
            <a:r>
              <a:rPr lang="en-US" sz="2600" dirty="0"/>
              <a:t>. Encyclopedia of Information Systems. </a:t>
            </a:r>
            <a:r>
              <a:rPr lang="en-US" sz="2600" u="sng" dirty="0">
                <a:hlinkClick r:id="rId4"/>
              </a:rPr>
              <a:t>https://www.sciencedirect.com/science/chapter/referencework/pii/B0122272404000265</a:t>
            </a:r>
            <a:endParaRPr lang="en-US" sz="2600" dirty="0"/>
          </a:p>
        </p:txBody>
      </p:sp>
    </p:spTree>
    <p:extLst>
      <p:ext uri="{BB962C8B-B14F-4D97-AF65-F5344CB8AC3E}">
        <p14:creationId xmlns:p14="http://schemas.microsoft.com/office/powerpoint/2010/main" val="5796995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Placeholder 5" descr="Close-up of a bridge with wires">
            <a:extLst>
              <a:ext uri="{FF2B5EF4-FFF2-40B4-BE49-F238E27FC236}">
                <a16:creationId xmlns:a16="http://schemas.microsoft.com/office/drawing/2014/main" id="{E461669C-A7BA-D639-22CB-B5FBBE698B38}"/>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20" r="20"/>
          <a:stretch/>
        </p:blipFill>
        <p:spPr>
          <a:noFill/>
        </p:spPr>
      </p:pic>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noFill/>
        </p:spPr>
        <p:txBody>
          <a:bodyPr anchor="b"/>
          <a:lstStyle/>
          <a:p>
            <a:r>
              <a:rPr lang="en-US" dirty="0"/>
              <a:t>THANK YOU</a:t>
            </a:r>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idx="1"/>
          </p:nvPr>
        </p:nvSpPr>
        <p:spPr>
          <a:noFill/>
        </p:spPr>
        <p:txBody>
          <a:bodyPr anchor="t">
            <a:normAutofit/>
          </a:bodyPr>
          <a:lstStyle/>
          <a:p>
            <a:r>
              <a:rPr lang="en-US" dirty="0"/>
              <a:t>Ken Rodriguez</a:t>
            </a:r>
          </a:p>
          <a:p>
            <a:r>
              <a:rPr lang="en-US" dirty="0"/>
              <a:t>Southern New Hampshire University</a:t>
            </a:r>
          </a:p>
          <a:p>
            <a:r>
              <a:rPr lang="en-US" dirty="0"/>
              <a:t>IT-655</a:t>
            </a:r>
          </a:p>
          <a:p>
            <a:r>
              <a:rPr lang="en-US" dirty="0"/>
              <a:t>Professor Noel Broman</a:t>
            </a:r>
          </a:p>
        </p:txBody>
      </p:sp>
    </p:spTree>
    <p:extLst>
      <p:ext uri="{BB962C8B-B14F-4D97-AF65-F5344CB8AC3E}">
        <p14:creationId xmlns:p14="http://schemas.microsoft.com/office/powerpoint/2010/main" val="1210802199"/>
      </p:ext>
    </p:extLst>
  </p:cSld>
  <p:clrMapOvr>
    <a:masterClrMapping/>
  </p:clrMapOvr>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C180A77-4928-484F-9529-F716C85D6A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C20BE78-9FDF-401B-B412-3AA10EC5BEA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30E62E91-3991-445A-ADE0-DB143B39320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{7664FA25-758A-441D-9A2C-F025C1B0B984}TF020710ce-b2a3-4743-8ec4-0abcd2574951ef9f6aa4_win32-415a623b9e9a</Template>
  <TotalTime>116</TotalTime>
  <Words>4442</Words>
  <Application>Microsoft Office PowerPoint</Application>
  <PresentationFormat>Widescreen</PresentationFormat>
  <Paragraphs>264</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Arial</vt:lpstr>
      <vt:lpstr>Calibri</vt:lpstr>
      <vt:lpstr>Univers Condensed Light</vt:lpstr>
      <vt:lpstr>Walbaum Display Light</vt:lpstr>
      <vt:lpstr>AngleLinesVTI</vt:lpstr>
      <vt:lpstr>  Final project</vt:lpstr>
      <vt:lpstr>Introduction</vt:lpstr>
      <vt:lpstr>Performance Tuning</vt:lpstr>
      <vt:lpstr>Query Design</vt:lpstr>
      <vt:lpstr>Data Duplication and redundancy</vt:lpstr>
      <vt:lpstr>Resolving record concurrency</vt:lpstr>
      <vt:lpstr>Multi-User Access</vt:lpstr>
      <vt:lpstr>Online  database migration</vt:lpstr>
      <vt:lpstr>Requirements for Database Changing</vt:lpstr>
      <vt:lpstr>Cost Effectiveness</vt:lpstr>
      <vt:lpstr>Online Database Platforms</vt:lpstr>
      <vt:lpstr>Hosted SQL Servers</vt:lpstr>
      <vt:lpstr>Software as a service providers</vt:lpstr>
      <vt:lpstr>Security Implications</vt:lpstr>
      <vt:lpstr>Required Steps</vt:lpstr>
      <vt:lpstr>References</vt:lpstr>
      <vt:lpstr>References</vt:lpstr>
      <vt:lpstr>References</vt:lpstr>
      <vt:lpstr>References</vt:lpstr>
      <vt:lpstr>References</vt:lpstr>
      <vt:lpstr>References</vt:lpstr>
      <vt:lpstr>References</vt:lpstr>
      <vt:lpstr>References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Rodriguez, Ken</dc:creator>
  <cp:lastModifiedBy>Rodriguez, Ken</cp:lastModifiedBy>
  <cp:revision>5</cp:revision>
  <dcterms:created xsi:type="dcterms:W3CDTF">2026-02-23T10:51:17Z</dcterms:created>
  <dcterms:modified xsi:type="dcterms:W3CDTF">2026-04-05T22:00:30Z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